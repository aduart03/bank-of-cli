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one-liner: this is a full banking ledger that runs entirely in the terminal. Keep the intro to about twenty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 seconds. Name the three feature groups, read the closing line, move on. Do not linger here — the demo is what sells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minute. Point out that deleting an account cascades to its transactions, and that related_account_id is set to null rather than cascading so the other party keeps their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Trace the arrow downward as you name each layer, then stop at domain and say it is the exception — the dashed box means everything depends on it and it depends on nothing. The why for DAO: the service layer states banking rules, the DAO states how to reach the data, and neither knows the other's business. BankServiceImpl takes the BankDAO interface through its constructor and Main is the only class that names the implementation. If they ask how DAO differs from Repository: DAO abstracts data access, Repository abstracts a collection of domain objects.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to five minutes — this carries the validation and error-handling story, so narrate as you go. Run the demo in this order: try a command while logged out (the guard says "Please log in first"), log in with a wrong PIN, sign up, log in, then try to sign up again while logged in. Deposit, transfer, and pull up transactions. End with an overdraft attempt. As failures appear, name the layer catching each one: the API checks shape, the service checks banking rules, the database checks the balance at write time. Say that user mistakes throw IllegalArgumentException and system failures throw IllegalStateException, and the REPL catches them separately so nobody ever sees a stack trace. Then circle the package folders with your mouse and tie them back to the layers slide, and show the Logback file filling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Forty-five seconds. The honest framing is the point: atomicity is the one you actively coded, consistency comes from constraints you defined, and isolation and durability come free from Postgres. Do not claim you implemented ACID. If they push on isolation, say you did not override the default and READ COMMITTED was sufficient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 seconds. Name the two kinds: negative proves invalid input is rejected, positive proves valid input works. The detail worth saying is the null DAO in the negative test — it can be null because the self-transfer check runs in the service layer before any database call, which proves the rule lives where you said it does. Be honest that the positive test hits the real database and that stubbing is the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Forty-five seconds. Read the left column and give one clause each; do not read every description aloud. The one to say carefully is SLF4J plus Logback — SLF4J is the interface you code against and Logback is the implementation underneath. It is not Log4j.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 seconds. Naming these three limitations yourself is stronger than having someone find them for you — it shows you know what production-grade would actually require. Then move to the Q and A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up. Questions to have an answer ready for: why DAO and not Repository; what setAutoCommit(false) actually does; why PreparedStatement over Statement; what happens if two transfers hit the same account at once; why double instead of BigDecimal (own it — it is on the previous slide); how many tests you wrote (two, both on transfer, and stubbing the DAO is the next step). If you do not know something, say so and say how you would find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jpe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0B0E"/>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2353121"/>
            <a:ext cx="1922907" cy="256530"/>
          </a:xfrm>
          <a:prstGeom prst="rect">
            <a:avLst/>
          </a:prstGeom>
          <a:noFill/>
          <a:ln/>
        </p:spPr>
        <p:txBody>
          <a:bodyPr wrap="square" lIns="0" tIns="0" rIns="0" bIns="0" rtlCol="0" anchor="t">
            <a:normAutofit/>
          </a:bodyPr>
          <a:lstStyle/>
          <a:p>
            <a:pPr algn="l" indent="0" marL="0">
              <a:lnSpc>
                <a:spcPts val="1820"/>
              </a:lnSpc>
              <a:buNone/>
            </a:pPr>
            <a:r>
              <a:rPr lang="en-US" sz="1300" spc="200" kern="0" dirty="0">
                <a:solidFill>
                  <a:srgbClr val="4ADE80"/>
                </a:solidFill>
                <a:latin typeface="JetBrains Mono" pitchFamily="34" charset="0"/>
                <a:ea typeface="JetBrains Mono" pitchFamily="34" charset="-122"/>
                <a:cs typeface="JetBrains Mono" pitchFamily="34" charset="-120"/>
              </a:rPr>
              <a:t>$ ./bank-of-cli</a:t>
            </a:r>
            <a:endParaRPr lang="en-US" sz="1300" dirty="0"/>
          </a:p>
        </p:txBody>
      </p:sp>
      <p:sp>
        <p:nvSpPr>
          <p:cNvPr id="4" name="Shape 1"/>
          <p:cNvSpPr/>
          <p:nvPr/>
        </p:nvSpPr>
        <p:spPr>
          <a:xfrm>
            <a:off x="2832100" y="2465487"/>
            <a:ext cx="4838700" cy="6350"/>
          </a:xfrm>
          <a:prstGeom prst="rect">
            <a:avLst/>
          </a:prstGeom>
          <a:solidFill>
            <a:srgbClr val="2A3A33"/>
          </a:solidFill>
          <a:ln/>
        </p:spPr>
      </p:sp>
      <p:sp>
        <p:nvSpPr>
          <p:cNvPr id="5" name="Text 2"/>
          <p:cNvSpPr/>
          <p:nvPr/>
        </p:nvSpPr>
        <p:spPr>
          <a:xfrm>
            <a:off x="812800" y="2812852"/>
            <a:ext cx="10883392" cy="844252"/>
          </a:xfrm>
          <a:prstGeom prst="rect">
            <a:avLst/>
          </a:prstGeom>
          <a:noFill/>
          <a:ln/>
        </p:spPr>
        <p:txBody>
          <a:bodyPr wrap="square" lIns="0" tIns="0" rIns="0" bIns="0" rtlCol="0" anchor="t">
            <a:normAutofit/>
          </a:bodyPr>
          <a:lstStyle/>
          <a:p>
            <a:pPr algn="l" indent="0" marL="0">
              <a:lnSpc>
                <a:spcPts val="6448"/>
              </a:lnSpc>
              <a:buNone/>
            </a:pPr>
            <a:r>
              <a:rPr lang="en-US" sz="6200" b="1" dirty="0">
                <a:solidFill>
                  <a:srgbClr val="F4F6F4"/>
                </a:solidFill>
                <a:latin typeface="JetBrains Mono" pitchFamily="34" charset="0"/>
                <a:ea typeface="JetBrains Mono" pitchFamily="34" charset="-122"/>
                <a:cs typeface="JetBrains Mono" pitchFamily="34" charset="-120"/>
              </a:rPr>
              <a:t>Bank of CLI</a:t>
            </a:r>
            <a:endParaRPr lang="en-US" sz="6200" dirty="0"/>
          </a:p>
        </p:txBody>
      </p:sp>
      <p:sp>
        <p:nvSpPr>
          <p:cNvPr id="6" name="Text 3"/>
          <p:cNvSpPr/>
          <p:nvPr/>
        </p:nvSpPr>
        <p:spPr>
          <a:xfrm>
            <a:off x="812800" y="3860304"/>
            <a:ext cx="6540500" cy="669925"/>
          </a:xfrm>
          <a:prstGeom prst="rect">
            <a:avLst/>
          </a:prstGeom>
          <a:noFill/>
          <a:ln/>
        </p:spPr>
        <p:txBody>
          <a:bodyPr wrap="square" lIns="0" tIns="0" rIns="0" bIns="0" rtlCol="0" anchor="t">
            <a:normAutofit/>
          </a:bodyPr>
          <a:lstStyle/>
          <a:p>
            <a:pPr algn="l" indent="0" marL="0">
              <a:lnSpc>
                <a:spcPts val="2538"/>
              </a:lnSpc>
              <a:buNone/>
            </a:pPr>
            <a:r>
              <a:rPr lang="en-US" sz="1750" dirty="0">
                <a:solidFill>
                  <a:srgbClr val="9AA5AD"/>
                </a:solidFill>
                <a:latin typeface="Inter" pitchFamily="34" charset="0"/>
                <a:ea typeface="Inter" pitchFamily="34" charset="-122"/>
                <a:cs typeface="Inter" pitchFamily="34" charset="-120"/>
              </a:rPr>
              <a:t>A terminal banking application with a persistent ledger, atomic transfers, and a layered architecture.</a:t>
            </a:r>
            <a:endParaRPr lang="en-US" sz="1750" dirty="0"/>
          </a:p>
        </p:txBody>
      </p:sp>
      <p:sp>
        <p:nvSpPr>
          <p:cNvPr id="7" name="Shape 4"/>
          <p:cNvSpPr/>
          <p:nvPr/>
        </p:nvSpPr>
        <p:spPr>
          <a:xfrm>
            <a:off x="812800" y="6083300"/>
            <a:ext cx="5715000" cy="12700"/>
          </a:xfrm>
          <a:prstGeom prst="rect">
            <a:avLst/>
          </a:prstGeom>
          <a:solidFill>
            <a:srgbClr val="4ADE80"/>
          </a:solidFill>
          <a:ln/>
        </p:spPr>
      </p:sp>
      <p:sp>
        <p:nvSpPr>
          <p:cNvPr id="8" name="Text 5"/>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JetBrains Mono" pitchFamily="34" charset="0"/>
                <a:ea typeface="JetBrains Mono" pitchFamily="34" charset="-122"/>
                <a:cs typeface="JetBrains Mono" pitchFamily="34" charset="-120"/>
              </a:rPr>
              <a:t>By Ethan Duarte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419"/>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10883392" cy="521940"/>
          </a:xfrm>
          <a:prstGeom prst="rect">
            <a:avLst/>
          </a:prstGeom>
          <a:noFill/>
          <a:ln/>
        </p:spPr>
        <p:txBody>
          <a:bodyPr wrap="square" lIns="0" tIns="0" rIns="0" bIns="0" rtlCol="0" anchor="t">
            <a:normAutofit/>
          </a:bodyPr>
          <a:lstStyle/>
          <a:p>
            <a:pPr algn="l" indent="0" marL="0">
              <a:lnSpc>
                <a:spcPts val="3910"/>
              </a:lnSpc>
              <a:buNone/>
            </a:pPr>
            <a:r>
              <a:rPr lang="en-US" sz="3400" b="1" dirty="0">
                <a:solidFill>
                  <a:srgbClr val="F4F6F4"/>
                </a:solidFill>
                <a:latin typeface="JetBrains Mono" pitchFamily="34" charset="0"/>
                <a:ea typeface="JetBrains Mono" pitchFamily="34" charset="-122"/>
                <a:cs typeface="JetBrains Mono" pitchFamily="34" charset="-120"/>
              </a:rPr>
              <a:t>What it does</a:t>
            </a:r>
            <a:endParaRPr lang="en-US" sz="3400" dirty="0"/>
          </a:p>
        </p:txBody>
      </p:sp>
      <p:sp>
        <p:nvSpPr>
          <p:cNvPr id="4" name="Shape 1"/>
          <p:cNvSpPr/>
          <p:nvPr/>
        </p:nvSpPr>
        <p:spPr>
          <a:xfrm>
            <a:off x="4240709" y="2854970"/>
            <a:ext cx="0" cy="1155650"/>
          </a:xfrm>
          <a:prstGeom prst="line">
            <a:avLst/>
          </a:prstGeom>
          <a:noFill/>
          <a:ln w="6350">
            <a:solidFill>
              <a:srgbClr val="2A333D"/>
            </a:solidFill>
            <a:prstDash val="solid"/>
          </a:ln>
        </p:spPr>
      </p:sp>
      <p:sp>
        <p:nvSpPr>
          <p:cNvPr id="5" name="Text 2"/>
          <p:cNvSpPr/>
          <p:nvPr/>
        </p:nvSpPr>
        <p:spPr>
          <a:xfrm>
            <a:off x="812800" y="2854970"/>
            <a:ext cx="3239694" cy="220960"/>
          </a:xfrm>
          <a:prstGeom prst="rect">
            <a:avLst/>
          </a:prstGeom>
          <a:noFill/>
          <a:ln/>
        </p:spPr>
        <p:txBody>
          <a:bodyPr wrap="square" lIns="0" tIns="0" rIns="0" bIns="0" rtlCol="0" anchor="t">
            <a:normAutofit/>
          </a:bodyPr>
          <a:lstStyle/>
          <a:p>
            <a:pPr algn="l" indent="0" marL="0">
              <a:lnSpc>
                <a:spcPts val="1540"/>
              </a:lnSpc>
              <a:buNone/>
            </a:pPr>
            <a:r>
              <a:rPr lang="en-US" sz="1100" spc="100" kern="0" dirty="0">
                <a:solidFill>
                  <a:srgbClr val="4ADE80"/>
                </a:solidFill>
                <a:latin typeface="JetBrains Mono" pitchFamily="34" charset="0"/>
                <a:ea typeface="JetBrains Mono" pitchFamily="34" charset="-122"/>
                <a:cs typeface="JetBrains Mono" pitchFamily="34" charset="-120"/>
              </a:rPr>
              <a:t>01</a:t>
            </a:r>
            <a:endParaRPr lang="en-US" sz="1100" dirty="0"/>
          </a:p>
        </p:txBody>
      </p:sp>
      <p:sp>
        <p:nvSpPr>
          <p:cNvPr id="6" name="Text 3"/>
          <p:cNvSpPr/>
          <p:nvPr/>
        </p:nvSpPr>
        <p:spPr>
          <a:xfrm>
            <a:off x="812800" y="3164830"/>
            <a:ext cx="3239694" cy="261590"/>
          </a:xfrm>
          <a:prstGeom prst="rect">
            <a:avLst/>
          </a:prstGeom>
          <a:noFill/>
          <a:ln/>
        </p:spPr>
        <p:txBody>
          <a:bodyPr wrap="square" lIns="0" tIns="0" rIns="0" bIns="0" rtlCol="0" anchor="t">
            <a:normAutofit/>
          </a:bodyPr>
          <a:lstStyle/>
          <a:p>
            <a:pPr algn="l" indent="0" marL="0">
              <a:lnSpc>
                <a:spcPts val="1860"/>
              </a:lnSpc>
              <a:buNone/>
            </a:pPr>
            <a:r>
              <a:rPr lang="en-US" sz="1550" b="1" dirty="0">
                <a:solidFill>
                  <a:srgbClr val="F4F6F4"/>
                </a:solidFill>
                <a:latin typeface="JetBrains Mono" pitchFamily="34" charset="0"/>
                <a:ea typeface="JetBrains Mono" pitchFamily="34" charset="-122"/>
                <a:cs typeface="JetBrains Mono" pitchFamily="34" charset="-120"/>
              </a:rPr>
              <a:t>Secure access</a:t>
            </a:r>
            <a:endParaRPr lang="en-US" sz="1550" dirty="0"/>
          </a:p>
        </p:txBody>
      </p:sp>
      <p:sp>
        <p:nvSpPr>
          <p:cNvPr id="7" name="Text 4"/>
          <p:cNvSpPr/>
          <p:nvPr/>
        </p:nvSpPr>
        <p:spPr>
          <a:xfrm>
            <a:off x="812800" y="3515320"/>
            <a:ext cx="3239694"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9AA5AD"/>
                </a:solidFill>
                <a:latin typeface="Inter" pitchFamily="34" charset="0"/>
                <a:ea typeface="Inter" pitchFamily="34" charset="-122"/>
                <a:cs typeface="Inter" pitchFamily="34" charset="-120"/>
              </a:rPr>
              <a:t>Register and log in with a generated account ID and a 4-digit PIN.</a:t>
            </a:r>
            <a:endParaRPr lang="en-US" sz="1300" dirty="0"/>
          </a:p>
        </p:txBody>
      </p:sp>
      <p:sp>
        <p:nvSpPr>
          <p:cNvPr id="8" name="Shape 5"/>
          <p:cNvSpPr/>
          <p:nvPr/>
        </p:nvSpPr>
        <p:spPr>
          <a:xfrm>
            <a:off x="7951242" y="2854970"/>
            <a:ext cx="0" cy="1155650"/>
          </a:xfrm>
          <a:prstGeom prst="line">
            <a:avLst/>
          </a:prstGeom>
          <a:noFill/>
          <a:ln w="6350">
            <a:solidFill>
              <a:srgbClr val="2A333D"/>
            </a:solidFill>
            <a:prstDash val="solid"/>
          </a:ln>
        </p:spPr>
      </p:sp>
      <p:sp>
        <p:nvSpPr>
          <p:cNvPr id="9" name="Text 6"/>
          <p:cNvSpPr/>
          <p:nvPr/>
        </p:nvSpPr>
        <p:spPr>
          <a:xfrm>
            <a:off x="4523284" y="2854970"/>
            <a:ext cx="3239745" cy="220960"/>
          </a:xfrm>
          <a:prstGeom prst="rect">
            <a:avLst/>
          </a:prstGeom>
          <a:noFill/>
          <a:ln/>
        </p:spPr>
        <p:txBody>
          <a:bodyPr wrap="square" lIns="0" tIns="0" rIns="0" bIns="0" rtlCol="0" anchor="t">
            <a:normAutofit/>
          </a:bodyPr>
          <a:lstStyle/>
          <a:p>
            <a:pPr algn="l" indent="0" marL="0">
              <a:lnSpc>
                <a:spcPts val="1540"/>
              </a:lnSpc>
              <a:buNone/>
            </a:pPr>
            <a:r>
              <a:rPr lang="en-US" sz="1100" spc="100" kern="0" dirty="0">
                <a:solidFill>
                  <a:srgbClr val="4ADE80"/>
                </a:solidFill>
                <a:latin typeface="JetBrains Mono" pitchFamily="34" charset="0"/>
                <a:ea typeface="JetBrains Mono" pitchFamily="34" charset="-122"/>
                <a:cs typeface="JetBrains Mono" pitchFamily="34" charset="-120"/>
              </a:rPr>
              <a:t>02</a:t>
            </a:r>
            <a:endParaRPr lang="en-US" sz="1100" dirty="0"/>
          </a:p>
        </p:txBody>
      </p:sp>
      <p:sp>
        <p:nvSpPr>
          <p:cNvPr id="10" name="Text 7"/>
          <p:cNvSpPr/>
          <p:nvPr/>
        </p:nvSpPr>
        <p:spPr>
          <a:xfrm>
            <a:off x="4523284" y="3164830"/>
            <a:ext cx="3239745" cy="261590"/>
          </a:xfrm>
          <a:prstGeom prst="rect">
            <a:avLst/>
          </a:prstGeom>
          <a:noFill/>
          <a:ln/>
        </p:spPr>
        <p:txBody>
          <a:bodyPr wrap="square" lIns="0" tIns="0" rIns="0" bIns="0" rtlCol="0" anchor="t">
            <a:normAutofit/>
          </a:bodyPr>
          <a:lstStyle/>
          <a:p>
            <a:pPr algn="l" indent="0" marL="0">
              <a:lnSpc>
                <a:spcPts val="1860"/>
              </a:lnSpc>
              <a:buNone/>
            </a:pPr>
            <a:r>
              <a:rPr lang="en-US" sz="1550" b="1" dirty="0">
                <a:solidFill>
                  <a:srgbClr val="F4F6F4"/>
                </a:solidFill>
                <a:latin typeface="JetBrains Mono" pitchFamily="34" charset="0"/>
                <a:ea typeface="JetBrains Mono" pitchFamily="34" charset="-122"/>
                <a:cs typeface="JetBrains Mono" pitchFamily="34" charset="-120"/>
              </a:rPr>
              <a:t>Transaction engine</a:t>
            </a:r>
            <a:endParaRPr lang="en-US" sz="1550" dirty="0"/>
          </a:p>
        </p:txBody>
      </p:sp>
      <p:sp>
        <p:nvSpPr>
          <p:cNvPr id="11" name="Text 8"/>
          <p:cNvSpPr/>
          <p:nvPr/>
        </p:nvSpPr>
        <p:spPr>
          <a:xfrm>
            <a:off x="4523284" y="3515320"/>
            <a:ext cx="3239745"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9AA5AD"/>
                </a:solidFill>
                <a:latin typeface="Inter" pitchFamily="34" charset="0"/>
                <a:ea typeface="Inter" pitchFamily="34" charset="-122"/>
                <a:cs typeface="Inter" pitchFamily="34" charset="-120"/>
              </a:rPr>
              <a:t>Deposit, withdraw, and transfer with overdraft protection.</a:t>
            </a:r>
            <a:endParaRPr lang="en-US" sz="1300" dirty="0"/>
          </a:p>
        </p:txBody>
      </p:sp>
      <p:sp>
        <p:nvSpPr>
          <p:cNvPr id="12" name="Text 9"/>
          <p:cNvSpPr/>
          <p:nvPr/>
        </p:nvSpPr>
        <p:spPr>
          <a:xfrm>
            <a:off x="8233817" y="2854970"/>
            <a:ext cx="3239745" cy="220960"/>
          </a:xfrm>
          <a:prstGeom prst="rect">
            <a:avLst/>
          </a:prstGeom>
          <a:noFill/>
          <a:ln/>
        </p:spPr>
        <p:txBody>
          <a:bodyPr wrap="square" lIns="0" tIns="0" rIns="0" bIns="0" rtlCol="0" anchor="t">
            <a:normAutofit/>
          </a:bodyPr>
          <a:lstStyle/>
          <a:p>
            <a:pPr algn="l" indent="0" marL="0">
              <a:lnSpc>
                <a:spcPts val="1540"/>
              </a:lnSpc>
              <a:buNone/>
            </a:pPr>
            <a:r>
              <a:rPr lang="en-US" sz="1100" spc="100" kern="0" dirty="0">
                <a:solidFill>
                  <a:srgbClr val="4ADE80"/>
                </a:solidFill>
                <a:latin typeface="JetBrains Mono" pitchFamily="34" charset="0"/>
                <a:ea typeface="JetBrains Mono" pitchFamily="34" charset="-122"/>
                <a:cs typeface="JetBrains Mono" pitchFamily="34" charset="-120"/>
              </a:rPr>
              <a:t>03</a:t>
            </a:r>
            <a:endParaRPr lang="en-US" sz="1100" dirty="0"/>
          </a:p>
        </p:txBody>
      </p:sp>
      <p:sp>
        <p:nvSpPr>
          <p:cNvPr id="13" name="Text 10"/>
          <p:cNvSpPr/>
          <p:nvPr/>
        </p:nvSpPr>
        <p:spPr>
          <a:xfrm>
            <a:off x="8233817" y="3164830"/>
            <a:ext cx="3239745" cy="261590"/>
          </a:xfrm>
          <a:prstGeom prst="rect">
            <a:avLst/>
          </a:prstGeom>
          <a:noFill/>
          <a:ln/>
        </p:spPr>
        <p:txBody>
          <a:bodyPr wrap="square" lIns="0" tIns="0" rIns="0" bIns="0" rtlCol="0" anchor="t">
            <a:normAutofit/>
          </a:bodyPr>
          <a:lstStyle/>
          <a:p>
            <a:pPr algn="l" indent="0" marL="0">
              <a:lnSpc>
                <a:spcPts val="1860"/>
              </a:lnSpc>
              <a:buNone/>
            </a:pPr>
            <a:r>
              <a:rPr lang="en-US" sz="1550" b="1" dirty="0">
                <a:solidFill>
                  <a:srgbClr val="F4F6F4"/>
                </a:solidFill>
                <a:latin typeface="JetBrains Mono" pitchFamily="34" charset="0"/>
                <a:ea typeface="JetBrains Mono" pitchFamily="34" charset="-122"/>
                <a:cs typeface="JetBrains Mono" pitchFamily="34" charset="-120"/>
              </a:rPr>
              <a:t>Audit trail</a:t>
            </a:r>
            <a:endParaRPr lang="en-US" sz="1550" dirty="0"/>
          </a:p>
        </p:txBody>
      </p:sp>
      <p:sp>
        <p:nvSpPr>
          <p:cNvPr id="14" name="Text 11"/>
          <p:cNvSpPr/>
          <p:nvPr/>
        </p:nvSpPr>
        <p:spPr>
          <a:xfrm>
            <a:off x="8233817" y="3515320"/>
            <a:ext cx="3239745"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9AA5AD"/>
                </a:solidFill>
                <a:latin typeface="Inter" pitchFamily="34" charset="0"/>
                <a:ea typeface="Inter" pitchFamily="34" charset="-122"/>
                <a:cs typeface="Inter" pitchFamily="34" charset="-120"/>
              </a:rPr>
              <a:t>Every movement of money is recorded and queryable per account.</a:t>
            </a:r>
            <a:endParaRPr lang="en-US" sz="1300" dirty="0"/>
          </a:p>
        </p:txBody>
      </p:sp>
      <p:sp>
        <p:nvSpPr>
          <p:cNvPr id="15" name="Text 12"/>
          <p:cNvSpPr/>
          <p:nvPr/>
        </p:nvSpPr>
        <p:spPr>
          <a:xfrm>
            <a:off x="812800" y="5556250"/>
            <a:ext cx="10464800"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9AA5AD"/>
                </a:solidFill>
                <a:latin typeface="Inter" pitchFamily="34" charset="0"/>
                <a:ea typeface="Inter" pitchFamily="34" charset="-122"/>
                <a:cs typeface="Inter" pitchFamily="34" charset="-120"/>
              </a:rPr>
              <a:t>Everything runs in the terminal, backed by a relational database</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4"/>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10883392" cy="521940"/>
          </a:xfrm>
          <a:prstGeom prst="rect">
            <a:avLst/>
          </a:prstGeom>
          <a:noFill/>
          <a:ln/>
        </p:spPr>
        <p:txBody>
          <a:bodyPr wrap="square" lIns="0" tIns="0" rIns="0" bIns="0" rtlCol="0" anchor="t">
            <a:normAutofit/>
          </a:bodyPr>
          <a:lstStyle/>
          <a:p>
            <a:pPr algn="l" indent="0" marL="0">
              <a:lnSpc>
                <a:spcPts val="3910"/>
              </a:lnSpc>
              <a:buNone/>
            </a:pPr>
            <a:r>
              <a:rPr lang="en-US" sz="3400" b="1" dirty="0">
                <a:solidFill>
                  <a:srgbClr val="0F1419"/>
                </a:solidFill>
                <a:latin typeface="JetBrains Mono" pitchFamily="34" charset="0"/>
                <a:ea typeface="JetBrains Mono" pitchFamily="34" charset="-122"/>
                <a:cs typeface="JetBrains Mono" pitchFamily="34" charset="-120"/>
              </a:rPr>
              <a:t>The data model</a:t>
            </a:r>
            <a:endParaRPr lang="en-US" sz="3400" dirty="0"/>
          </a:p>
        </p:txBody>
      </p:sp>
      <p:pic>
        <p:nvPicPr>
          <p:cNvPr id="4" name="Image 1" descr="Entity relationship diagram: ACCOUNT with account_id, pin and balance, related through MAKE to TRANSACTION with transaction_id, type, amount and timestamp">    </p:cNvPr>
          <p:cNvPicPr>
            <a:picLocks noChangeAspect="1"/>
          </p:cNvPicPr>
          <p:nvPr/>
        </p:nvPicPr>
        <p:blipFill>
          <a:blip r:embed="rId2"/>
          <a:srcRect l="-50295" r="-50295" t="0" b="0"/>
          <a:stretch/>
        </p:blipFill>
        <p:spPr>
          <a:xfrm>
            <a:off x="812800" y="1943745"/>
            <a:ext cx="10566400" cy="2730500"/>
          </a:xfrm>
          <a:prstGeom prst="rect">
            <a:avLst/>
          </a:prstGeom>
        </p:spPr>
      </p:pic>
      <p:sp>
        <p:nvSpPr>
          <p:cNvPr id="5" name="Text 1"/>
          <p:cNvSpPr/>
          <p:nvPr/>
        </p:nvSpPr>
        <p:spPr>
          <a:xfrm>
            <a:off x="812800" y="5308600"/>
            <a:ext cx="10464800"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3F4A52"/>
                </a:solidFill>
                <a:latin typeface="Inter" pitchFamily="34" charset="0"/>
                <a:ea typeface="Inter" pitchFamily="34" charset="-122"/>
                <a:cs typeface="Inter" pitchFamily="34" charset="-120"/>
              </a:rPr>
              <a:t>One account makes many transactions. A transfer writes </a:t>
            </a:r>
            <a:r>
              <a:rPr lang="en-US" sz="1400" b="1" dirty="0">
                <a:solidFill>
                  <a:srgbClr val="3F4A52"/>
                </a:solidFill>
                <a:latin typeface="Inter" pitchFamily="34" charset="0"/>
                <a:ea typeface="Inter" pitchFamily="34" charset="-122"/>
                <a:cs typeface="Inter" pitchFamily="34" charset="-120"/>
              </a:rPr>
              <a:t>two</a:t>
            </a:r>
            <a:r>
              <a:rPr lang="en-US" sz="1400" dirty="0">
                <a:solidFill>
                  <a:srgbClr val="3F4A52"/>
                </a:solidFill>
                <a:latin typeface="Inter" pitchFamily="34" charset="0"/>
                <a:ea typeface="Inter" pitchFamily="34" charset="-122"/>
                <a:cs typeface="Inter" pitchFamily="34" charset="-120"/>
              </a:rPr>
              <a:t> rows: (Row 1  - Sender, Row 2 - Receiver) — linked by </a:t>
            </a:r>
            <a:r>
              <a:rPr lang="en-US" sz="1400" b="1" dirty="0">
                <a:solidFill>
                  <a:srgbClr val="3F4A52"/>
                </a:solidFill>
                <a:latin typeface="Inter" pitchFamily="34" charset="0"/>
                <a:ea typeface="Inter" pitchFamily="34" charset="-122"/>
                <a:cs typeface="Inter" pitchFamily="34" charset="-120"/>
              </a:rPr>
              <a:t>related_account_id.</a:t>
            </a:r>
            <a:endParaRPr lang="en-US" sz="1400" dirty="0"/>
          </a:p>
        </p:txBody>
      </p:sp>
      <p:sp>
        <p:nvSpPr>
          <p:cNvPr id="6" name="Shape 2"/>
          <p:cNvSpPr/>
          <p:nvPr/>
        </p:nvSpPr>
        <p:spPr>
          <a:xfrm>
            <a:off x="812800" y="6140450"/>
            <a:ext cx="10566400" cy="6350"/>
          </a:xfrm>
          <a:prstGeom prst="rect">
            <a:avLst/>
          </a:prstGeom>
          <a:solidFill>
            <a:srgbClr val="D9DFDC"/>
          </a:solidFill>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419"/>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10883392" cy="521940"/>
          </a:xfrm>
          <a:prstGeom prst="rect">
            <a:avLst/>
          </a:prstGeom>
          <a:noFill/>
          <a:ln/>
        </p:spPr>
        <p:txBody>
          <a:bodyPr wrap="square" lIns="0" tIns="0" rIns="0" bIns="0" rtlCol="0" anchor="t">
            <a:normAutofit/>
          </a:bodyPr>
          <a:lstStyle/>
          <a:p>
            <a:pPr algn="l" indent="0" marL="0">
              <a:lnSpc>
                <a:spcPts val="3910"/>
              </a:lnSpc>
              <a:buNone/>
            </a:pPr>
            <a:r>
              <a:rPr lang="en-US" sz="3400" b="1" dirty="0">
                <a:solidFill>
                  <a:srgbClr val="F4F6F4"/>
                </a:solidFill>
                <a:latin typeface="JetBrains Mono" pitchFamily="34" charset="0"/>
                <a:ea typeface="JetBrains Mono" pitchFamily="34" charset="-122"/>
                <a:cs typeface="JetBrains Mono" pitchFamily="34" charset="-120"/>
              </a:rPr>
              <a:t>The 4 Layers</a:t>
            </a:r>
            <a:endParaRPr lang="en-US" sz="3400" dirty="0"/>
          </a:p>
        </p:txBody>
      </p:sp>
      <p:sp>
        <p:nvSpPr>
          <p:cNvPr id="4" name="Text 1"/>
          <p:cNvSpPr/>
          <p:nvPr/>
        </p:nvSpPr>
        <p:spPr>
          <a:xfrm>
            <a:off x="996950" y="2594670"/>
            <a:ext cx="444500" cy="339030"/>
          </a:xfrm>
          <a:prstGeom prst="rect">
            <a:avLst/>
          </a:prstGeom>
          <a:noFill/>
          <a:ln/>
        </p:spPr>
        <p:txBody>
          <a:bodyPr wrap="square" lIns="0" tIns="0" rIns="0" bIns="0" rtlCol="0" anchor="t">
            <a:normAutofit/>
          </a:bodyPr>
          <a:lstStyle/>
          <a:p>
            <a:pPr algn="ctr" indent="0" marL="0">
              <a:lnSpc>
                <a:spcPts val="1235"/>
              </a:lnSpc>
              <a:buNone/>
            </a:pPr>
            <a:r>
              <a:rPr lang="en-US" sz="950" spc="50" kern="0" dirty="0">
                <a:solidFill>
                  <a:srgbClr val="6A7179"/>
                </a:solidFill>
                <a:latin typeface="JetBrains Mono" pitchFamily="34" charset="0"/>
                <a:ea typeface="JetBrains Mono" pitchFamily="34" charset="-122"/>
                <a:cs typeface="JetBrains Mono" pitchFamily="34" charset="-120"/>
              </a:rPr>
              <a:t>CALLS</a:t>
            </a:r>
            <a:endParaRPr lang="en-US" sz="950" dirty="0"/>
          </a:p>
          <a:p>
            <a:pPr algn="ctr" indent="0" marL="0">
              <a:lnSpc>
                <a:spcPts val="1235"/>
              </a:lnSpc>
              <a:buNone/>
            </a:pPr>
            <a:r>
              <a:rPr lang="en-US" sz="950" spc="50" kern="0" dirty="0">
                <a:solidFill>
                  <a:srgbClr val="6A7179"/>
                </a:solidFill>
                <a:latin typeface="JetBrains Mono" pitchFamily="34" charset="0"/>
                <a:ea typeface="JetBrains Mono" pitchFamily="34" charset="-122"/>
                <a:cs typeface="JetBrains Mono" pitchFamily="34" charset="-120"/>
              </a:rPr>
              <a:t>DOWN</a:t>
            </a:r>
            <a:endParaRPr lang="en-US" sz="950" dirty="0"/>
          </a:p>
        </p:txBody>
      </p:sp>
      <p:pic>
        <p:nvPicPr>
          <p:cNvPr id="5" name="Image 1" descr="preencoded.png">    </p:cNvPr>
          <p:cNvPicPr>
            <a:picLocks noChangeAspect="1"/>
          </p:cNvPicPr>
          <p:nvPr/>
        </p:nvPicPr>
        <p:blipFill>
          <a:blip r:embed="rId2"/>
          <a:srcRect l="0" r="0" t="0" b="0"/>
          <a:stretch/>
        </p:blipFill>
        <p:spPr>
          <a:xfrm>
            <a:off x="1143000" y="2984500"/>
            <a:ext cx="152400" cy="2857500"/>
          </a:xfrm>
          <a:prstGeom prst="rect">
            <a:avLst/>
          </a:prstGeom>
        </p:spPr>
      </p:pic>
      <p:sp>
        <p:nvSpPr>
          <p:cNvPr id="6" name="Shape 2"/>
          <p:cNvSpPr/>
          <p:nvPr/>
        </p:nvSpPr>
        <p:spPr>
          <a:xfrm>
            <a:off x="1905000" y="3169345"/>
            <a:ext cx="9474200" cy="0"/>
          </a:xfrm>
          <a:prstGeom prst="line">
            <a:avLst/>
          </a:prstGeom>
          <a:noFill/>
          <a:ln w="6350">
            <a:solidFill>
              <a:srgbClr val="2A333D"/>
            </a:solidFill>
            <a:prstDash val="solid"/>
          </a:ln>
        </p:spPr>
      </p:sp>
      <p:sp>
        <p:nvSpPr>
          <p:cNvPr id="7" name="Text 3"/>
          <p:cNvSpPr/>
          <p:nvPr/>
        </p:nvSpPr>
        <p:spPr>
          <a:xfrm>
            <a:off x="1905000" y="2721670"/>
            <a:ext cx="183134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ADE80"/>
                </a:solidFill>
                <a:latin typeface="JetBrains Mono" pitchFamily="34" charset="0"/>
                <a:ea typeface="JetBrains Mono" pitchFamily="34" charset="-122"/>
                <a:cs typeface="JetBrains Mono" pitchFamily="34" charset="-120"/>
              </a:rPr>
              <a:t>api</a:t>
            </a:r>
            <a:endParaRPr lang="en-US" sz="1500" dirty="0"/>
          </a:p>
        </p:txBody>
      </p:sp>
      <p:sp>
        <p:nvSpPr>
          <p:cNvPr id="8" name="Text 4"/>
          <p:cNvSpPr/>
          <p:nvPr/>
        </p:nvSpPr>
        <p:spPr>
          <a:xfrm>
            <a:off x="3886200" y="2735014"/>
            <a:ext cx="7717790" cy="26541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C3CCD3"/>
                </a:solidFill>
                <a:latin typeface="Inter" pitchFamily="34" charset="0"/>
                <a:ea typeface="Inter" pitchFamily="34" charset="-122"/>
                <a:cs typeface="Inter" pitchFamily="34" charset="-120"/>
              </a:rPr>
              <a:t>Terminal I/O, menus, and input validation. Talks only to the service layer.</a:t>
            </a:r>
            <a:endParaRPr lang="en-US" sz="1350" dirty="0"/>
          </a:p>
        </p:txBody>
      </p:sp>
      <p:sp>
        <p:nvSpPr>
          <p:cNvPr id="9" name="Shape 5"/>
          <p:cNvSpPr/>
          <p:nvPr/>
        </p:nvSpPr>
        <p:spPr>
          <a:xfrm>
            <a:off x="1905000" y="3797995"/>
            <a:ext cx="9474200" cy="0"/>
          </a:xfrm>
          <a:prstGeom prst="line">
            <a:avLst/>
          </a:prstGeom>
          <a:noFill/>
          <a:ln w="6350">
            <a:solidFill>
              <a:srgbClr val="2A333D"/>
            </a:solidFill>
            <a:prstDash val="solid"/>
          </a:ln>
        </p:spPr>
      </p:sp>
      <p:sp>
        <p:nvSpPr>
          <p:cNvPr id="10" name="Text 6"/>
          <p:cNvSpPr/>
          <p:nvPr/>
        </p:nvSpPr>
        <p:spPr>
          <a:xfrm>
            <a:off x="1905000" y="3350320"/>
            <a:ext cx="183134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ADE80"/>
                </a:solidFill>
                <a:latin typeface="JetBrains Mono" pitchFamily="34" charset="0"/>
                <a:ea typeface="JetBrains Mono" pitchFamily="34" charset="-122"/>
                <a:cs typeface="JetBrains Mono" pitchFamily="34" charset="-120"/>
              </a:rPr>
              <a:t>service</a:t>
            </a:r>
            <a:endParaRPr lang="en-US" sz="1500" dirty="0"/>
          </a:p>
        </p:txBody>
      </p:sp>
      <p:sp>
        <p:nvSpPr>
          <p:cNvPr id="11" name="Text 7"/>
          <p:cNvSpPr/>
          <p:nvPr/>
        </p:nvSpPr>
        <p:spPr>
          <a:xfrm>
            <a:off x="3886200" y="3363664"/>
            <a:ext cx="7717790" cy="26541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C3CCD3"/>
                </a:solidFill>
                <a:latin typeface="Inter" pitchFamily="34" charset="0"/>
                <a:ea typeface="Inter" pitchFamily="34" charset="-122"/>
                <a:cs typeface="Inter" pitchFamily="34" charset="-120"/>
              </a:rPr>
              <a:t>Banking rules: PIN format, positive amounts, sufficient funds, no self-transfer.</a:t>
            </a:r>
            <a:endParaRPr lang="en-US" sz="1350" dirty="0"/>
          </a:p>
        </p:txBody>
      </p:sp>
      <p:sp>
        <p:nvSpPr>
          <p:cNvPr id="12" name="Shape 8"/>
          <p:cNvSpPr/>
          <p:nvPr/>
        </p:nvSpPr>
        <p:spPr>
          <a:xfrm>
            <a:off x="1905000" y="4426645"/>
            <a:ext cx="9474200" cy="0"/>
          </a:xfrm>
          <a:prstGeom prst="line">
            <a:avLst/>
          </a:prstGeom>
          <a:noFill/>
          <a:ln w="6350">
            <a:solidFill>
              <a:srgbClr val="2A333D"/>
            </a:solidFill>
            <a:prstDash val="solid"/>
          </a:ln>
        </p:spPr>
      </p:sp>
      <p:sp>
        <p:nvSpPr>
          <p:cNvPr id="13" name="Text 9"/>
          <p:cNvSpPr/>
          <p:nvPr/>
        </p:nvSpPr>
        <p:spPr>
          <a:xfrm>
            <a:off x="1905000" y="3978970"/>
            <a:ext cx="183134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ADE80"/>
                </a:solidFill>
                <a:latin typeface="JetBrains Mono" pitchFamily="34" charset="0"/>
                <a:ea typeface="JetBrains Mono" pitchFamily="34" charset="-122"/>
                <a:cs typeface="JetBrains Mono" pitchFamily="34" charset="-120"/>
              </a:rPr>
              <a:t>persistence</a:t>
            </a:r>
            <a:endParaRPr lang="en-US" sz="1500" dirty="0"/>
          </a:p>
        </p:txBody>
      </p:sp>
      <p:sp>
        <p:nvSpPr>
          <p:cNvPr id="14" name="Text 10"/>
          <p:cNvSpPr/>
          <p:nvPr/>
        </p:nvSpPr>
        <p:spPr>
          <a:xfrm>
            <a:off x="3886200" y="3992314"/>
            <a:ext cx="7717790" cy="26541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C3CCD3"/>
                </a:solidFill>
                <a:latin typeface="Inter" pitchFamily="34" charset="0"/>
                <a:ea typeface="Inter" pitchFamily="34" charset="-122"/>
                <a:cs typeface="Inter" pitchFamily="34" charset="-120"/>
              </a:rPr>
              <a:t>JDBC, SQL, and transaction control. Maps result set rows to Java objects.</a:t>
            </a:r>
            <a:endParaRPr lang="en-US" sz="1350" dirty="0"/>
          </a:p>
        </p:txBody>
      </p:sp>
      <p:sp>
        <p:nvSpPr>
          <p:cNvPr id="15" name="Shape 11"/>
          <p:cNvSpPr/>
          <p:nvPr/>
        </p:nvSpPr>
        <p:spPr>
          <a:xfrm>
            <a:off x="1908175" y="4432995"/>
            <a:ext cx="9467850" cy="628650"/>
          </a:xfrm>
          <a:prstGeom prst="rect">
            <a:avLst/>
          </a:prstGeom>
          <a:solidFill>
            <a:srgbClr val="171D24"/>
          </a:solidFill>
          <a:ln w="6350">
            <a:solidFill>
              <a:srgbClr val="4ADE80"/>
            </a:solidFill>
            <a:prstDash val="dash"/>
          </a:ln>
        </p:spPr>
      </p:sp>
      <p:sp>
        <p:nvSpPr>
          <p:cNvPr id="16" name="Text 12"/>
          <p:cNvSpPr/>
          <p:nvPr/>
        </p:nvSpPr>
        <p:spPr>
          <a:xfrm>
            <a:off x="2114550" y="4613970"/>
            <a:ext cx="183134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ADE80"/>
                </a:solidFill>
                <a:latin typeface="JetBrains Mono" pitchFamily="34" charset="0"/>
                <a:ea typeface="JetBrains Mono" pitchFamily="34" charset="-122"/>
                <a:cs typeface="JetBrains Mono" pitchFamily="34" charset="-120"/>
              </a:rPr>
              <a:t>domain</a:t>
            </a:r>
            <a:endParaRPr lang="en-US" sz="1500" dirty="0"/>
          </a:p>
        </p:txBody>
      </p:sp>
      <p:sp>
        <p:nvSpPr>
          <p:cNvPr id="17" name="Text 13"/>
          <p:cNvSpPr/>
          <p:nvPr/>
        </p:nvSpPr>
        <p:spPr>
          <a:xfrm>
            <a:off x="4095750" y="4627314"/>
            <a:ext cx="7286117" cy="26541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C3CCD3"/>
                </a:solidFill>
                <a:latin typeface="Inter" pitchFamily="34" charset="0"/>
                <a:ea typeface="Inter" pitchFamily="34" charset="-122"/>
                <a:cs typeface="Inter" pitchFamily="34" charset="-120"/>
              </a:rPr>
              <a:t>Account and Transaction. Every layer depends on it; it depends on nothing.</a:t>
            </a:r>
            <a:endParaRPr lang="en-US" sz="1350" dirty="0"/>
          </a:p>
        </p:txBody>
      </p:sp>
      <p:sp>
        <p:nvSpPr>
          <p:cNvPr id="18" name="Text 14"/>
          <p:cNvSpPr/>
          <p:nvPr/>
        </p:nvSpPr>
        <p:spPr>
          <a:xfrm>
            <a:off x="812800" y="622047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AA5AD"/>
                </a:solidFill>
                <a:latin typeface="Inter" pitchFamily="34" charset="0"/>
                <a:ea typeface="Inter" pitchFamily="34" charset="-122"/>
                <a:cs typeface="Inter" pitchFamily="34" charset="-120"/>
              </a:rPr>
              <a:t>This is the </a:t>
            </a:r>
            <a:r>
              <a:rPr lang="en-US" sz="1300" b="1" dirty="0">
                <a:solidFill>
                  <a:srgbClr val="9AA5AD"/>
                </a:solidFill>
                <a:latin typeface="Inter" pitchFamily="34" charset="0"/>
                <a:ea typeface="Inter" pitchFamily="34" charset="-122"/>
                <a:cs typeface="Inter" pitchFamily="34" charset="-120"/>
              </a:rPr>
              <a:t>DAO pattern</a:t>
            </a:r>
            <a:r>
              <a:rPr lang="en-US" sz="1300" dirty="0">
                <a:solidFill>
                  <a:srgbClr val="9AA5AD"/>
                </a:solidFill>
                <a:latin typeface="Inter" pitchFamily="34" charset="0"/>
                <a:ea typeface="Inter" pitchFamily="34" charset="-122"/>
                <a:cs typeface="Inter" pitchFamily="34" charset="-120"/>
              </a:rPr>
              <a:t>: all data access sits behind a </a:t>
            </a:r>
            <a:r>
              <a:rPr lang="en-US" sz="1300" b="1" dirty="0">
                <a:solidFill>
                  <a:srgbClr val="9AA5AD"/>
                </a:solidFill>
                <a:latin typeface="Inter" pitchFamily="34" charset="0"/>
                <a:ea typeface="Inter" pitchFamily="34" charset="-122"/>
                <a:cs typeface="Inter" pitchFamily="34" charset="-120"/>
              </a:rPr>
              <a:t>BankDAO</a:t>
            </a:r>
            <a:r>
              <a:rPr lang="en-US" sz="1300" dirty="0">
                <a:solidFill>
                  <a:srgbClr val="9AA5AD"/>
                </a:solidFill>
                <a:latin typeface="Inter" pitchFamily="34" charset="0"/>
                <a:ea typeface="Inter" pitchFamily="34" charset="-122"/>
                <a:cs typeface="Inter" pitchFamily="34" charset="-120"/>
              </a:rPr>
              <a:t> interface, so the service layer never touches SQL.</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4ADE8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2500015"/>
            <a:ext cx="1365250" cy="292100"/>
          </a:xfrm>
          <a:prstGeom prst="rect">
            <a:avLst/>
          </a:prstGeom>
          <a:noFill/>
          <a:ln/>
        </p:spPr>
        <p:txBody>
          <a:bodyPr wrap="square" lIns="0" tIns="0" rIns="0" bIns="0" rtlCol="0" anchor="t">
            <a:normAutofit/>
          </a:bodyPr>
          <a:lstStyle/>
          <a:p>
            <a:pPr algn="l" indent="0" marL="0">
              <a:lnSpc>
                <a:spcPts val="2100"/>
              </a:lnSpc>
              <a:buNone/>
            </a:pPr>
            <a:r>
              <a:rPr lang="en-US" sz="1500" b="1" spc="250" kern="0" dirty="0">
                <a:solidFill>
                  <a:srgbClr val="0F1419"/>
                </a:solidFill>
                <a:latin typeface="JetBrains Mono" pitchFamily="34" charset="0"/>
                <a:ea typeface="JetBrains Mono" pitchFamily="34" charset="-122"/>
                <a:cs typeface="JetBrains Mono" pitchFamily="34" charset="-120"/>
              </a:rPr>
              <a:t>LIVE DEMO</a:t>
            </a:r>
            <a:endParaRPr lang="en-US" sz="1500" dirty="0"/>
          </a:p>
        </p:txBody>
      </p:sp>
      <p:sp>
        <p:nvSpPr>
          <p:cNvPr id="4" name="Shape 1"/>
          <p:cNvSpPr/>
          <p:nvPr/>
        </p:nvSpPr>
        <p:spPr>
          <a:xfrm>
            <a:off x="2279650" y="2630190"/>
            <a:ext cx="9099550" cy="6350"/>
          </a:xfrm>
          <a:prstGeom prst="rect">
            <a:avLst/>
          </a:prstGeom>
          <a:solidFill>
            <a:srgbClr val="14361F"/>
          </a:solidFill>
          <a:ln/>
        </p:spPr>
      </p:sp>
      <p:sp>
        <p:nvSpPr>
          <p:cNvPr id="5" name="Text 2"/>
          <p:cNvSpPr/>
          <p:nvPr/>
        </p:nvSpPr>
        <p:spPr>
          <a:xfrm>
            <a:off x="812800" y="3046115"/>
            <a:ext cx="10883392" cy="695920"/>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0F1419"/>
                </a:solidFill>
                <a:latin typeface="JetBrains Mono" pitchFamily="34" charset="0"/>
                <a:ea typeface="JetBrains Mono" pitchFamily="34" charset="-122"/>
                <a:cs typeface="JetBrains Mono" pitchFamily="34" charset="-120"/>
              </a:rPr>
              <a:t>Bank Of CLI Demo</a:t>
            </a:r>
            <a:endParaRPr lang="en-US" sz="4800" dirty="0"/>
          </a:p>
        </p:txBody>
      </p:sp>
      <p:sp>
        <p:nvSpPr>
          <p:cNvPr id="6" name="Text 3"/>
          <p:cNvSpPr/>
          <p:nvPr/>
        </p:nvSpPr>
        <p:spPr>
          <a:xfrm>
            <a:off x="812800" y="3996035"/>
            <a:ext cx="10883392" cy="387350"/>
          </a:xfrm>
          <a:prstGeom prst="rect">
            <a:avLst/>
          </a:prstGeom>
          <a:noFill/>
          <a:ln/>
        </p:spPr>
        <p:txBody>
          <a:bodyPr wrap="square" lIns="0" tIns="0" rIns="0" bIns="0" rtlCol="0" anchor="t">
            <a:normAutofit/>
          </a:bodyPr>
          <a:lstStyle/>
          <a:p>
            <a:pPr algn="l" indent="0" marL="0">
              <a:lnSpc>
                <a:spcPts val="2850"/>
              </a:lnSpc>
              <a:buNone/>
            </a:pPr>
            <a:r>
              <a:rPr lang="en-US" sz="1500" dirty="0">
                <a:solidFill>
                  <a:srgbClr val="14361F"/>
                </a:solidFill>
                <a:latin typeface="JetBrains Mono" pitchFamily="34" charset="0"/>
                <a:ea typeface="JetBrains Mono" pitchFamily="34" charset="-122"/>
                <a:cs typeface="JetBrains Mono" pitchFamily="34" charset="-120"/>
              </a:rPr>
              <a:t>signup  →  login  →  deposit  →  withdraw →  transfer  →  transactions →  update  →  delete</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419"/>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10883392" cy="521940"/>
          </a:xfrm>
          <a:prstGeom prst="rect">
            <a:avLst/>
          </a:prstGeom>
          <a:noFill/>
          <a:ln/>
        </p:spPr>
        <p:txBody>
          <a:bodyPr wrap="square" lIns="0" tIns="0" rIns="0" bIns="0" rtlCol="0" anchor="t">
            <a:normAutofit/>
          </a:bodyPr>
          <a:lstStyle/>
          <a:p>
            <a:pPr algn="l" indent="0" marL="0">
              <a:lnSpc>
                <a:spcPts val="3910"/>
              </a:lnSpc>
              <a:buNone/>
            </a:pPr>
            <a:r>
              <a:rPr lang="en-US" sz="3400" b="1" dirty="0">
                <a:solidFill>
                  <a:srgbClr val="F4F6F4"/>
                </a:solidFill>
                <a:latin typeface="JetBrains Mono" pitchFamily="34" charset="0"/>
                <a:ea typeface="JetBrains Mono" pitchFamily="34" charset="-122"/>
                <a:cs typeface="JetBrains Mono" pitchFamily="34" charset="-120"/>
              </a:rPr>
              <a:t>Where ACID Lives</a:t>
            </a:r>
            <a:endParaRPr lang="en-US" sz="3400" dirty="0"/>
          </a:p>
        </p:txBody>
      </p:sp>
      <p:sp>
        <p:nvSpPr>
          <p:cNvPr id="4" name="Shape 1"/>
          <p:cNvSpPr/>
          <p:nvPr/>
        </p:nvSpPr>
        <p:spPr>
          <a:xfrm>
            <a:off x="812800" y="2857599"/>
            <a:ext cx="10566400" cy="798810"/>
          </a:xfrm>
          <a:prstGeom prst="rect">
            <a:avLst/>
          </a:prstGeom>
          <a:solidFill>
            <a:srgbClr val="171D24"/>
          </a:solidFill>
          <a:ln/>
        </p:spPr>
      </p:sp>
      <p:sp>
        <p:nvSpPr>
          <p:cNvPr id="5" name="Shape 2"/>
          <p:cNvSpPr/>
          <p:nvPr/>
        </p:nvSpPr>
        <p:spPr>
          <a:xfrm>
            <a:off x="812800" y="3653234"/>
            <a:ext cx="10566400" cy="0"/>
          </a:xfrm>
          <a:prstGeom prst="line">
            <a:avLst/>
          </a:prstGeom>
          <a:noFill/>
          <a:ln w="6350">
            <a:solidFill>
              <a:srgbClr val="2A333D"/>
            </a:solidFill>
            <a:prstDash val="solid"/>
          </a:ln>
        </p:spPr>
      </p:sp>
      <p:sp>
        <p:nvSpPr>
          <p:cNvPr id="6" name="Shape 3"/>
          <p:cNvSpPr/>
          <p:nvPr/>
        </p:nvSpPr>
        <p:spPr>
          <a:xfrm>
            <a:off x="828675" y="2857599"/>
            <a:ext cx="0" cy="798810"/>
          </a:xfrm>
          <a:prstGeom prst="line">
            <a:avLst/>
          </a:prstGeom>
          <a:noFill/>
          <a:ln w="31750">
            <a:solidFill>
              <a:srgbClr val="2A333D"/>
            </a:solidFill>
            <a:prstDash val="solid"/>
          </a:ln>
        </p:spPr>
      </p:sp>
      <p:sp>
        <p:nvSpPr>
          <p:cNvPr id="7" name="Text 4"/>
          <p:cNvSpPr/>
          <p:nvPr/>
        </p:nvSpPr>
        <p:spPr>
          <a:xfrm>
            <a:off x="1047750" y="3124944"/>
            <a:ext cx="1962150" cy="283170"/>
          </a:xfrm>
          <a:prstGeom prst="rect">
            <a:avLst/>
          </a:prstGeom>
          <a:noFill/>
          <a:ln/>
        </p:spPr>
        <p:txBody>
          <a:bodyPr wrap="square" lIns="0" tIns="0" rIns="0" bIns="0" rtlCol="0" anchor="t">
            <a:normAutofit/>
          </a:bodyPr>
          <a:lstStyle/>
          <a:p>
            <a:pPr algn="l" indent="0" marL="0">
              <a:lnSpc>
                <a:spcPts val="2030"/>
              </a:lnSpc>
              <a:buNone/>
            </a:pPr>
            <a:r>
              <a:rPr lang="en-US" sz="1450" b="1" dirty="0">
                <a:solidFill>
                  <a:srgbClr val="4ADE80"/>
                </a:solidFill>
                <a:latin typeface="JetBrains Mono" pitchFamily="34" charset="0"/>
                <a:ea typeface="JetBrains Mono" pitchFamily="34" charset="-122"/>
                <a:cs typeface="JetBrains Mono" pitchFamily="34" charset="-120"/>
              </a:rPr>
              <a:t>Atomicity</a:t>
            </a:r>
            <a:endParaRPr lang="en-US" sz="1450" dirty="0"/>
          </a:p>
        </p:txBody>
      </p:sp>
      <p:sp>
        <p:nvSpPr>
          <p:cNvPr id="8" name="Text 5"/>
          <p:cNvSpPr/>
          <p:nvPr/>
        </p:nvSpPr>
        <p:spPr>
          <a:xfrm>
            <a:off x="3155950" y="3022699"/>
            <a:ext cx="8260652"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3CCD3"/>
                </a:solidFill>
                <a:latin typeface="Inter" pitchFamily="34" charset="0"/>
                <a:ea typeface="Inter" pitchFamily="34" charset="-122"/>
                <a:cs typeface="Inter" pitchFamily="34" charset="-120"/>
              </a:rPr>
              <a:t>All four statements in a transfer land together or not at all : </a:t>
            </a:r>
            <a:r>
              <a:rPr lang="en-US" sz="1300" b="1" dirty="0">
                <a:solidFill>
                  <a:srgbClr val="C3CCD3"/>
                </a:solidFill>
                <a:latin typeface="Inter" pitchFamily="34" charset="0"/>
                <a:ea typeface="Inter" pitchFamily="34" charset="-122"/>
                <a:cs typeface="Inter" pitchFamily="34" charset="-120"/>
              </a:rPr>
              <a:t>setAutoCommit(false)</a:t>
            </a:r>
            <a:r>
              <a:rPr lang="en-US" sz="1300" dirty="0">
                <a:solidFill>
                  <a:srgbClr val="C3CCD3"/>
                </a:solidFill>
                <a:latin typeface="Inter" pitchFamily="34" charset="0"/>
                <a:ea typeface="Inter" pitchFamily="34" charset="-122"/>
                <a:cs typeface="Inter" pitchFamily="34" charset="-120"/>
              </a:rPr>
              <a:t>, </a:t>
            </a:r>
            <a:r>
              <a:rPr lang="en-US" sz="1300" b="1" dirty="0">
                <a:solidFill>
                  <a:srgbClr val="C3CCD3"/>
                </a:solidFill>
                <a:latin typeface="Inter" pitchFamily="34" charset="0"/>
                <a:ea typeface="Inter" pitchFamily="34" charset="-122"/>
                <a:cs typeface="Inter" pitchFamily="34" charset="-120"/>
              </a:rPr>
              <a:t>commit()</a:t>
            </a:r>
            <a:r>
              <a:rPr lang="en-US" sz="1300" dirty="0">
                <a:solidFill>
                  <a:srgbClr val="C3CCD3"/>
                </a:solidFill>
                <a:latin typeface="Inter" pitchFamily="34" charset="0"/>
                <a:ea typeface="Inter" pitchFamily="34" charset="-122"/>
                <a:cs typeface="Inter" pitchFamily="34" charset="-120"/>
              </a:rPr>
              <a:t>, </a:t>
            </a:r>
            <a:r>
              <a:rPr lang="en-US" sz="1300" b="1" dirty="0">
                <a:solidFill>
                  <a:srgbClr val="C3CCD3"/>
                </a:solidFill>
                <a:latin typeface="Inter" pitchFamily="34" charset="0"/>
                <a:ea typeface="Inter" pitchFamily="34" charset="-122"/>
                <a:cs typeface="Inter" pitchFamily="34" charset="-120"/>
              </a:rPr>
              <a:t>rollback()</a:t>
            </a:r>
            <a:r>
              <a:rPr lang="en-US" sz="1300" dirty="0">
                <a:solidFill>
                  <a:srgbClr val="C3CCD3"/>
                </a:solidFill>
                <a:latin typeface="Inter" pitchFamily="34" charset="0"/>
                <a:ea typeface="Inter" pitchFamily="34" charset="-122"/>
                <a:cs typeface="Inter" pitchFamily="34" charset="-120"/>
              </a:rPr>
              <a:t>.</a:t>
            </a:r>
            <a:endParaRPr lang="en-US" sz="1300" dirty="0"/>
          </a:p>
        </p:txBody>
      </p:sp>
      <p:sp>
        <p:nvSpPr>
          <p:cNvPr id="9" name="Shape 6"/>
          <p:cNvSpPr/>
          <p:nvPr/>
        </p:nvSpPr>
        <p:spPr>
          <a:xfrm>
            <a:off x="812800" y="3656409"/>
            <a:ext cx="10566400" cy="798810"/>
          </a:xfrm>
          <a:prstGeom prst="rect">
            <a:avLst/>
          </a:prstGeom>
          <a:solidFill>
            <a:srgbClr val="171D24"/>
          </a:solidFill>
          <a:ln/>
        </p:spPr>
      </p:sp>
      <p:sp>
        <p:nvSpPr>
          <p:cNvPr id="10" name="Shape 7"/>
          <p:cNvSpPr/>
          <p:nvPr/>
        </p:nvSpPr>
        <p:spPr>
          <a:xfrm>
            <a:off x="812800" y="4452045"/>
            <a:ext cx="10566400" cy="0"/>
          </a:xfrm>
          <a:prstGeom prst="line">
            <a:avLst/>
          </a:prstGeom>
          <a:noFill/>
          <a:ln w="6350">
            <a:solidFill>
              <a:srgbClr val="2A333D"/>
            </a:solidFill>
            <a:prstDash val="solid"/>
          </a:ln>
        </p:spPr>
      </p:sp>
      <p:sp>
        <p:nvSpPr>
          <p:cNvPr id="11" name="Shape 8"/>
          <p:cNvSpPr/>
          <p:nvPr/>
        </p:nvSpPr>
        <p:spPr>
          <a:xfrm>
            <a:off x="828675" y="3656409"/>
            <a:ext cx="0" cy="798810"/>
          </a:xfrm>
          <a:prstGeom prst="line">
            <a:avLst/>
          </a:prstGeom>
          <a:noFill/>
          <a:ln w="31750">
            <a:solidFill>
              <a:srgbClr val="2A333D"/>
            </a:solidFill>
            <a:prstDash val="solid"/>
          </a:ln>
        </p:spPr>
      </p:sp>
      <p:sp>
        <p:nvSpPr>
          <p:cNvPr id="12" name="Text 9"/>
          <p:cNvSpPr/>
          <p:nvPr/>
        </p:nvSpPr>
        <p:spPr>
          <a:xfrm>
            <a:off x="1047750" y="3923754"/>
            <a:ext cx="1962150" cy="283170"/>
          </a:xfrm>
          <a:prstGeom prst="rect">
            <a:avLst/>
          </a:prstGeom>
          <a:noFill/>
          <a:ln/>
        </p:spPr>
        <p:txBody>
          <a:bodyPr wrap="square" lIns="0" tIns="0" rIns="0" bIns="0" rtlCol="0" anchor="t">
            <a:normAutofit/>
          </a:bodyPr>
          <a:lstStyle/>
          <a:p>
            <a:pPr algn="l" indent="0" marL="0">
              <a:lnSpc>
                <a:spcPts val="2030"/>
              </a:lnSpc>
              <a:buNone/>
            </a:pPr>
            <a:r>
              <a:rPr lang="en-US" sz="1450" b="1" dirty="0">
                <a:solidFill>
                  <a:srgbClr val="4ADE80"/>
                </a:solidFill>
                <a:latin typeface="JetBrains Mono" pitchFamily="34" charset="0"/>
                <a:ea typeface="JetBrains Mono" pitchFamily="34" charset="-122"/>
                <a:cs typeface="JetBrains Mono" pitchFamily="34" charset="-120"/>
              </a:rPr>
              <a:t>Consistency</a:t>
            </a:r>
            <a:endParaRPr lang="en-US" sz="1450" dirty="0"/>
          </a:p>
        </p:txBody>
      </p:sp>
      <p:sp>
        <p:nvSpPr>
          <p:cNvPr id="13" name="Text 10"/>
          <p:cNvSpPr/>
          <p:nvPr/>
        </p:nvSpPr>
        <p:spPr>
          <a:xfrm>
            <a:off x="3155950" y="3821509"/>
            <a:ext cx="8260652"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3CCD3"/>
                </a:solidFill>
                <a:latin typeface="Inter" pitchFamily="34" charset="0"/>
                <a:ea typeface="Inter" pitchFamily="34" charset="-122"/>
                <a:cs typeface="Inter" pitchFamily="34" charset="-120"/>
              </a:rPr>
              <a:t>The constraints defined when the entities were created hold before and after such as NOT NULL, foreign keys, NUMERIC(12,2), and </a:t>
            </a:r>
            <a:r>
              <a:rPr lang="en-US" sz="1300" b="1" dirty="0">
                <a:solidFill>
                  <a:srgbClr val="C3CCD3"/>
                </a:solidFill>
                <a:latin typeface="Inter" pitchFamily="34" charset="0"/>
                <a:ea typeface="Inter" pitchFamily="34" charset="-122"/>
                <a:cs typeface="Inter" pitchFamily="34" charset="-120"/>
              </a:rPr>
              <a:t>AND balance &gt;= ?</a:t>
            </a:r>
            <a:r>
              <a:rPr lang="en-US" sz="1300" dirty="0">
                <a:solidFill>
                  <a:srgbClr val="C3CCD3"/>
                </a:solidFill>
                <a:latin typeface="Inter" pitchFamily="34" charset="0"/>
                <a:ea typeface="Inter" pitchFamily="34" charset="-122"/>
                <a:cs typeface="Inter" pitchFamily="34" charset="-120"/>
              </a:rPr>
              <a:t>.</a:t>
            </a:r>
            <a:endParaRPr lang="en-US" sz="1300" dirty="0"/>
          </a:p>
        </p:txBody>
      </p:sp>
      <p:sp>
        <p:nvSpPr>
          <p:cNvPr id="14" name="Shape 11"/>
          <p:cNvSpPr/>
          <p:nvPr/>
        </p:nvSpPr>
        <p:spPr>
          <a:xfrm>
            <a:off x="812800" y="4455220"/>
            <a:ext cx="10566400" cy="798810"/>
          </a:xfrm>
          <a:prstGeom prst="rect">
            <a:avLst/>
          </a:prstGeom>
          <a:solidFill>
            <a:srgbClr val="171D24"/>
          </a:solidFill>
          <a:ln/>
        </p:spPr>
      </p:sp>
      <p:sp>
        <p:nvSpPr>
          <p:cNvPr id="15" name="Shape 12"/>
          <p:cNvSpPr/>
          <p:nvPr/>
        </p:nvSpPr>
        <p:spPr>
          <a:xfrm>
            <a:off x="812800" y="5250855"/>
            <a:ext cx="10566400" cy="0"/>
          </a:xfrm>
          <a:prstGeom prst="line">
            <a:avLst/>
          </a:prstGeom>
          <a:noFill/>
          <a:ln w="6350">
            <a:solidFill>
              <a:srgbClr val="2A333D"/>
            </a:solidFill>
            <a:prstDash val="solid"/>
          </a:ln>
        </p:spPr>
      </p:sp>
      <p:sp>
        <p:nvSpPr>
          <p:cNvPr id="16" name="Shape 13"/>
          <p:cNvSpPr/>
          <p:nvPr/>
        </p:nvSpPr>
        <p:spPr>
          <a:xfrm>
            <a:off x="828675" y="4455220"/>
            <a:ext cx="0" cy="798810"/>
          </a:xfrm>
          <a:prstGeom prst="line">
            <a:avLst/>
          </a:prstGeom>
          <a:noFill/>
          <a:ln w="31750">
            <a:solidFill>
              <a:srgbClr val="2A333D"/>
            </a:solidFill>
            <a:prstDash val="solid"/>
          </a:ln>
        </p:spPr>
      </p:sp>
      <p:sp>
        <p:nvSpPr>
          <p:cNvPr id="17" name="Text 14"/>
          <p:cNvSpPr/>
          <p:nvPr/>
        </p:nvSpPr>
        <p:spPr>
          <a:xfrm>
            <a:off x="1047750" y="4722564"/>
            <a:ext cx="1962150" cy="283170"/>
          </a:xfrm>
          <a:prstGeom prst="rect">
            <a:avLst/>
          </a:prstGeom>
          <a:noFill/>
          <a:ln/>
        </p:spPr>
        <p:txBody>
          <a:bodyPr wrap="square" lIns="0" tIns="0" rIns="0" bIns="0" rtlCol="0" anchor="t">
            <a:normAutofit/>
          </a:bodyPr>
          <a:lstStyle/>
          <a:p>
            <a:pPr algn="l" indent="0" marL="0">
              <a:lnSpc>
                <a:spcPts val="2030"/>
              </a:lnSpc>
              <a:buNone/>
            </a:pPr>
            <a:r>
              <a:rPr lang="en-US" sz="1450" dirty="0">
                <a:solidFill>
                  <a:srgbClr val="4ADE80"/>
                </a:solidFill>
                <a:latin typeface="JetBrains Mono" pitchFamily="34" charset="0"/>
                <a:ea typeface="JetBrains Mono" pitchFamily="34" charset="-122"/>
                <a:cs typeface="JetBrains Mono" pitchFamily="34" charset="-120"/>
              </a:rPr>
              <a:t>Isolation</a:t>
            </a:r>
            <a:endParaRPr lang="en-US" sz="1450" dirty="0"/>
          </a:p>
        </p:txBody>
      </p:sp>
      <p:sp>
        <p:nvSpPr>
          <p:cNvPr id="18" name="Text 15"/>
          <p:cNvSpPr/>
          <p:nvPr/>
        </p:nvSpPr>
        <p:spPr>
          <a:xfrm>
            <a:off x="3155950" y="4620320"/>
            <a:ext cx="8260652"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AA5AD"/>
                </a:solidFill>
                <a:latin typeface="Inter" pitchFamily="34" charset="0"/>
                <a:ea typeface="Inter" pitchFamily="34" charset="-122"/>
                <a:cs typeface="Inter" pitchFamily="34" charset="-120"/>
              </a:rPr>
              <a:t>Concurrent transfers don't see each other's half-finished work. Postgres by default is </a:t>
            </a:r>
            <a:r>
              <a:rPr lang="en-US" sz="1300" b="1" dirty="0">
                <a:solidFill>
                  <a:srgbClr val="9AA5AD"/>
                </a:solidFill>
                <a:latin typeface="Inter" pitchFamily="34" charset="0"/>
                <a:ea typeface="Inter" pitchFamily="34" charset="-122"/>
                <a:cs typeface="Inter" pitchFamily="34" charset="-120"/>
              </a:rPr>
              <a:t>READ COMMITTED</a:t>
            </a:r>
            <a:r>
              <a:rPr lang="en-US" sz="1300" dirty="0">
                <a:solidFill>
                  <a:srgbClr val="9AA5AD"/>
                </a:solidFill>
                <a:latin typeface="Inter" pitchFamily="34" charset="0"/>
                <a:ea typeface="Inter" pitchFamily="34" charset="-122"/>
                <a:cs typeface="Inter" pitchFamily="34" charset="-120"/>
              </a:rPr>
              <a:t>.</a:t>
            </a:r>
            <a:endParaRPr lang="en-US" sz="1300" dirty="0"/>
          </a:p>
        </p:txBody>
      </p:sp>
      <p:sp>
        <p:nvSpPr>
          <p:cNvPr id="19" name="Shape 16"/>
          <p:cNvSpPr/>
          <p:nvPr/>
        </p:nvSpPr>
        <p:spPr>
          <a:xfrm>
            <a:off x="812800" y="5254030"/>
            <a:ext cx="10566400" cy="587970"/>
          </a:xfrm>
          <a:prstGeom prst="rect">
            <a:avLst/>
          </a:prstGeom>
          <a:solidFill>
            <a:srgbClr val="171D24"/>
          </a:solidFill>
          <a:ln/>
        </p:spPr>
      </p:sp>
      <p:sp>
        <p:nvSpPr>
          <p:cNvPr id="20" name="Shape 17"/>
          <p:cNvSpPr/>
          <p:nvPr/>
        </p:nvSpPr>
        <p:spPr>
          <a:xfrm>
            <a:off x="828675" y="5254030"/>
            <a:ext cx="0" cy="587970"/>
          </a:xfrm>
          <a:prstGeom prst="line">
            <a:avLst/>
          </a:prstGeom>
          <a:noFill/>
          <a:ln w="31750">
            <a:solidFill>
              <a:srgbClr val="39424C"/>
            </a:solidFill>
            <a:prstDash val="solid"/>
          </a:ln>
        </p:spPr>
      </p:sp>
      <p:sp>
        <p:nvSpPr>
          <p:cNvPr id="21" name="Text 18"/>
          <p:cNvSpPr/>
          <p:nvPr/>
        </p:nvSpPr>
        <p:spPr>
          <a:xfrm>
            <a:off x="1047750" y="5419130"/>
            <a:ext cx="1962150" cy="283170"/>
          </a:xfrm>
          <a:prstGeom prst="rect">
            <a:avLst/>
          </a:prstGeom>
          <a:noFill/>
          <a:ln/>
        </p:spPr>
        <p:txBody>
          <a:bodyPr wrap="square" lIns="0" tIns="0" rIns="0" bIns="0" rtlCol="0" anchor="t">
            <a:normAutofit/>
          </a:bodyPr>
          <a:lstStyle/>
          <a:p>
            <a:pPr algn="l" indent="0" marL="0">
              <a:lnSpc>
                <a:spcPts val="2030"/>
              </a:lnSpc>
              <a:buNone/>
            </a:pPr>
            <a:r>
              <a:rPr lang="en-US" sz="1450" dirty="0">
                <a:solidFill>
                  <a:srgbClr val="4ADE80"/>
                </a:solidFill>
                <a:latin typeface="JetBrains Mono" pitchFamily="34" charset="0"/>
                <a:ea typeface="JetBrains Mono" pitchFamily="34" charset="-122"/>
                <a:cs typeface="JetBrains Mono" pitchFamily="34" charset="-120"/>
              </a:rPr>
              <a:t>Durability</a:t>
            </a:r>
            <a:endParaRPr lang="en-US" sz="1450" dirty="0"/>
          </a:p>
        </p:txBody>
      </p:sp>
      <p:sp>
        <p:nvSpPr>
          <p:cNvPr id="22" name="Text 19"/>
          <p:cNvSpPr/>
          <p:nvPr/>
        </p:nvSpPr>
        <p:spPr>
          <a:xfrm>
            <a:off x="3155950" y="5432425"/>
            <a:ext cx="826065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AA5AD"/>
                </a:solidFill>
                <a:latin typeface="Inter" pitchFamily="34" charset="0"/>
                <a:ea typeface="Inter" pitchFamily="34" charset="-122"/>
                <a:cs typeface="Inter" pitchFamily="34" charset="-120"/>
              </a:rPr>
              <a:t>Once committed, it survives a crash. Handled by the Postgres write-ahead log.</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4"/>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10883392" cy="521940"/>
          </a:xfrm>
          <a:prstGeom prst="rect">
            <a:avLst/>
          </a:prstGeom>
          <a:noFill/>
          <a:ln/>
        </p:spPr>
        <p:txBody>
          <a:bodyPr wrap="square" lIns="0" tIns="0" rIns="0" bIns="0" rtlCol="0" anchor="t">
            <a:normAutofit/>
          </a:bodyPr>
          <a:lstStyle/>
          <a:p>
            <a:pPr algn="l" indent="0" marL="0">
              <a:lnSpc>
                <a:spcPts val="3910"/>
              </a:lnSpc>
              <a:buNone/>
            </a:pPr>
            <a:r>
              <a:rPr lang="en-US" sz="3400" b="1" dirty="0">
                <a:solidFill>
                  <a:srgbClr val="0F1419"/>
                </a:solidFill>
                <a:latin typeface="JetBrains Mono" pitchFamily="34" charset="0"/>
                <a:ea typeface="JetBrains Mono" pitchFamily="34" charset="-122"/>
                <a:cs typeface="JetBrains Mono" pitchFamily="34" charset="-120"/>
              </a:rPr>
              <a:t>Testing</a:t>
            </a:r>
            <a:endParaRPr lang="en-US" sz="3400" dirty="0"/>
          </a:p>
        </p:txBody>
      </p:sp>
      <p:sp>
        <p:nvSpPr>
          <p:cNvPr id="4" name="Shape 1"/>
          <p:cNvSpPr/>
          <p:nvPr/>
        </p:nvSpPr>
        <p:spPr>
          <a:xfrm>
            <a:off x="6096000" y="2595116"/>
            <a:ext cx="0" cy="1446808"/>
          </a:xfrm>
          <a:prstGeom prst="line">
            <a:avLst/>
          </a:prstGeom>
          <a:noFill/>
          <a:ln w="6350">
            <a:solidFill>
              <a:srgbClr val="D9DFDC"/>
            </a:solidFill>
            <a:prstDash val="solid"/>
          </a:ln>
        </p:spPr>
      </p:sp>
      <p:sp>
        <p:nvSpPr>
          <p:cNvPr id="5" name="Text 2"/>
          <p:cNvSpPr/>
          <p:nvPr/>
        </p:nvSpPr>
        <p:spPr>
          <a:xfrm>
            <a:off x="812800" y="2595116"/>
            <a:ext cx="512448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3452F"/>
                </a:solidFill>
                <a:latin typeface="JetBrains Mono" pitchFamily="34" charset="0"/>
                <a:ea typeface="JetBrains Mono" pitchFamily="34" charset="-122"/>
                <a:cs typeface="JetBrains Mono" pitchFamily="34" charset="-120"/>
              </a:rPr>
              <a:t>NEGATIVE TEST</a:t>
            </a:r>
            <a:endParaRPr lang="en-US" sz="1200" dirty="0"/>
          </a:p>
        </p:txBody>
      </p:sp>
      <p:sp>
        <p:nvSpPr>
          <p:cNvPr id="6" name="Text 3"/>
          <p:cNvSpPr/>
          <p:nvPr/>
        </p:nvSpPr>
        <p:spPr>
          <a:xfrm>
            <a:off x="812800" y="2922736"/>
            <a:ext cx="5124482" cy="287338"/>
          </a:xfrm>
          <a:prstGeom prst="rect">
            <a:avLst/>
          </a:prstGeom>
          <a:noFill/>
          <a:ln/>
        </p:spPr>
        <p:txBody>
          <a:bodyPr wrap="square" lIns="0" tIns="0" rIns="0" bIns="0" rtlCol="0" anchor="t">
            <a:normAutofit/>
          </a:bodyPr>
          <a:lstStyle/>
          <a:p>
            <a:pPr algn="l" indent="0" marL="0">
              <a:lnSpc>
                <a:spcPts val="2063"/>
              </a:lnSpc>
              <a:buNone/>
            </a:pPr>
            <a:r>
              <a:rPr lang="en-US" sz="1650" b="1" dirty="0">
                <a:solidFill>
                  <a:srgbClr val="0F1419"/>
                </a:solidFill>
                <a:latin typeface="JetBrains Mono" pitchFamily="34" charset="0"/>
                <a:ea typeface="JetBrains Mono" pitchFamily="34" charset="-122"/>
                <a:cs typeface="JetBrains Mono" pitchFamily="34" charset="-120"/>
              </a:rPr>
              <a:t>A self-transfer must be rejected</a:t>
            </a:r>
            <a:endParaRPr lang="en-US" sz="1650" dirty="0"/>
          </a:p>
        </p:txBody>
      </p:sp>
      <p:sp>
        <p:nvSpPr>
          <p:cNvPr id="7" name="Text 4"/>
          <p:cNvSpPr/>
          <p:nvPr/>
        </p:nvSpPr>
        <p:spPr>
          <a:xfrm>
            <a:off x="812800" y="3298974"/>
            <a:ext cx="5124482" cy="768350"/>
          </a:xfrm>
          <a:prstGeom prst="rect">
            <a:avLst/>
          </a:prstGeom>
          <a:noFill/>
          <a:ln/>
        </p:spPr>
        <p:txBody>
          <a:bodyPr wrap="square" lIns="0" tIns="0" rIns="0" bIns="0" rtlCol="0" anchor="t">
            <a:normAutofit/>
          </a:bodyPr>
          <a:lstStyle/>
          <a:p>
            <a:pPr algn="l" indent="0" marL="0">
              <a:lnSpc>
                <a:spcPts val="1950"/>
              </a:lnSpc>
              <a:buNone/>
            </a:pPr>
            <a:r>
              <a:rPr lang="en-US" sz="1300" b="1" dirty="0">
                <a:solidFill>
                  <a:srgbClr val="3F4A52"/>
                </a:solidFill>
                <a:latin typeface="Inter" pitchFamily="34" charset="0"/>
                <a:ea typeface="Inter" pitchFamily="34" charset="-122"/>
                <a:cs typeface="Inter" pitchFamily="34" charset="-120"/>
              </a:rPr>
              <a:t>assertThrows</a:t>
            </a:r>
            <a:r>
              <a:rPr lang="en-US" sz="1300" dirty="0">
                <a:solidFill>
                  <a:srgbClr val="3F4A52"/>
                </a:solidFill>
                <a:latin typeface="Inter" pitchFamily="34" charset="0"/>
                <a:ea typeface="Inter" pitchFamily="34" charset="-122"/>
                <a:cs typeface="Inter" pitchFamily="34" charset="-120"/>
              </a:rPr>
              <a:t> proves the service throws when the source and destination are the same account — and it passes a null DAO, so the rule is enforced before the database is ever touched.</a:t>
            </a:r>
            <a:endParaRPr lang="en-US" sz="1300" dirty="0"/>
          </a:p>
        </p:txBody>
      </p:sp>
      <p:sp>
        <p:nvSpPr>
          <p:cNvPr id="8" name="Text 5"/>
          <p:cNvSpPr/>
          <p:nvPr/>
        </p:nvSpPr>
        <p:spPr>
          <a:xfrm>
            <a:off x="6403975" y="2595116"/>
            <a:ext cx="512448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F7A45"/>
                </a:solidFill>
                <a:latin typeface="JetBrains Mono" pitchFamily="34" charset="0"/>
                <a:ea typeface="JetBrains Mono" pitchFamily="34" charset="-122"/>
                <a:cs typeface="JetBrains Mono" pitchFamily="34" charset="-120"/>
              </a:rPr>
              <a:t>POSITIVE TEST</a:t>
            </a:r>
            <a:endParaRPr lang="en-US" sz="1200" dirty="0"/>
          </a:p>
        </p:txBody>
      </p:sp>
      <p:sp>
        <p:nvSpPr>
          <p:cNvPr id="9" name="Text 6"/>
          <p:cNvSpPr/>
          <p:nvPr/>
        </p:nvSpPr>
        <p:spPr>
          <a:xfrm>
            <a:off x="6403975" y="2922736"/>
            <a:ext cx="5124482" cy="287338"/>
          </a:xfrm>
          <a:prstGeom prst="rect">
            <a:avLst/>
          </a:prstGeom>
          <a:noFill/>
          <a:ln/>
        </p:spPr>
        <p:txBody>
          <a:bodyPr wrap="square" lIns="0" tIns="0" rIns="0" bIns="0" rtlCol="0" anchor="t">
            <a:normAutofit/>
          </a:bodyPr>
          <a:lstStyle/>
          <a:p>
            <a:pPr algn="l" indent="0" marL="0">
              <a:lnSpc>
                <a:spcPts val="2063"/>
              </a:lnSpc>
              <a:buNone/>
            </a:pPr>
            <a:r>
              <a:rPr lang="en-US" sz="1650" b="1" dirty="0">
                <a:solidFill>
                  <a:srgbClr val="0F1419"/>
                </a:solidFill>
                <a:latin typeface="JetBrains Mono" pitchFamily="34" charset="0"/>
                <a:ea typeface="JetBrains Mono" pitchFamily="34" charset="-122"/>
                <a:cs typeface="JetBrains Mono" pitchFamily="34" charset="-120"/>
              </a:rPr>
              <a:t>A valid transfer moves the money</a:t>
            </a:r>
            <a:endParaRPr lang="en-US" sz="1650" dirty="0"/>
          </a:p>
        </p:txBody>
      </p:sp>
      <p:sp>
        <p:nvSpPr>
          <p:cNvPr id="10" name="Text 7"/>
          <p:cNvSpPr/>
          <p:nvPr/>
        </p:nvSpPr>
        <p:spPr>
          <a:xfrm>
            <a:off x="6403975" y="3298974"/>
            <a:ext cx="5124482"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3F4A52"/>
                </a:solidFill>
                <a:latin typeface="Inter" pitchFamily="34" charset="0"/>
                <a:ea typeface="Inter" pitchFamily="34" charset="-122"/>
                <a:cs typeface="Inter" pitchFamily="34" charset="-120"/>
              </a:rPr>
              <a:t>Two accounts, one transfer of 200, then </a:t>
            </a:r>
            <a:r>
              <a:rPr lang="en-US" sz="1300" b="1" dirty="0">
                <a:solidFill>
                  <a:srgbClr val="3F4A52"/>
                </a:solidFill>
                <a:latin typeface="Inter" pitchFamily="34" charset="0"/>
                <a:ea typeface="Inter" pitchFamily="34" charset="-122"/>
                <a:cs typeface="Inter" pitchFamily="34" charset="-120"/>
              </a:rPr>
              <a:t>assertEquals</a:t>
            </a:r>
            <a:r>
              <a:rPr lang="en-US" sz="1300" dirty="0">
                <a:solidFill>
                  <a:srgbClr val="3F4A52"/>
                </a:solidFill>
                <a:latin typeface="Inter" pitchFamily="34" charset="0"/>
                <a:ea typeface="Inter" pitchFamily="34" charset="-122"/>
                <a:cs typeface="Inter" pitchFamily="34" charset="-120"/>
              </a:rPr>
              <a:t> on both balances — 300 out of one, 200 into the other.</a:t>
            </a:r>
            <a:endParaRPr lang="en-US" sz="1300" dirty="0"/>
          </a:p>
        </p:txBody>
      </p:sp>
      <p:sp>
        <p:nvSpPr>
          <p:cNvPr id="11" name="Text 8"/>
          <p:cNvSpPr/>
          <p:nvPr/>
        </p:nvSpPr>
        <p:spPr>
          <a:xfrm>
            <a:off x="812800" y="5327650"/>
            <a:ext cx="10464800" cy="539750"/>
          </a:xfrm>
          <a:prstGeom prst="rect">
            <a:avLst/>
          </a:prstGeom>
          <a:noFill/>
          <a:ln/>
        </p:spPr>
        <p:txBody>
          <a:bodyPr wrap="square" lIns="0" tIns="0" rIns="0" bIns="0" rtlCol="0" anchor="t">
            <a:normAutofit/>
          </a:bodyPr>
          <a:lstStyle/>
          <a:p>
            <a:pPr algn="l" indent="0" marL="0">
              <a:lnSpc>
                <a:spcPts val="2025"/>
              </a:lnSpc>
              <a:buNone/>
            </a:pPr>
            <a:r>
              <a:rPr lang="en-US" sz="1350" dirty="0">
                <a:solidFill>
                  <a:srgbClr val="3F4A52"/>
                </a:solidFill>
                <a:latin typeface="Inter" pitchFamily="34" charset="0"/>
                <a:ea typeface="Inter" pitchFamily="34" charset="-122"/>
                <a:cs typeface="Inter" pitchFamily="34" charset="-120"/>
              </a:rPr>
              <a:t>Both follow </a:t>
            </a:r>
            <a:r>
              <a:rPr lang="en-US" sz="1350" b="1" dirty="0">
                <a:solidFill>
                  <a:srgbClr val="3F4A52"/>
                </a:solidFill>
                <a:latin typeface="Inter" pitchFamily="34" charset="0"/>
                <a:ea typeface="Inter" pitchFamily="34" charset="-122"/>
                <a:cs typeface="Inter" pitchFamily="34" charset="-120"/>
              </a:rPr>
              <a:t>Arrange, Act, Assert</a:t>
            </a:r>
            <a:r>
              <a:rPr lang="en-US" sz="1350" dirty="0">
                <a:solidFill>
                  <a:srgbClr val="3F4A52"/>
                </a:solidFill>
                <a:latin typeface="Inter" pitchFamily="34" charset="0"/>
                <a:ea typeface="Inter" pitchFamily="34" charset="-122"/>
                <a:cs typeface="Inter" pitchFamily="34" charset="-120"/>
              </a:rPr>
              <a:t>. The positive test still hits the real database, because </a:t>
            </a:r>
            <a:r>
              <a:rPr lang="en-US" sz="1350" b="1" dirty="0">
                <a:solidFill>
                  <a:srgbClr val="3F4A52"/>
                </a:solidFill>
                <a:latin typeface="Inter" pitchFamily="34" charset="0"/>
                <a:ea typeface="Inter" pitchFamily="34" charset="-122"/>
                <a:cs typeface="Inter" pitchFamily="34" charset="-120"/>
              </a:rPr>
              <a:t>BankServiceImpl</a:t>
            </a:r>
            <a:r>
              <a:rPr lang="en-US" sz="1350" dirty="0">
                <a:solidFill>
                  <a:srgbClr val="3F4A52"/>
                </a:solidFill>
                <a:latin typeface="Inter" pitchFamily="34" charset="0"/>
                <a:ea typeface="Inter" pitchFamily="34" charset="-122"/>
                <a:cs typeface="Inter" pitchFamily="34" charset="-120"/>
              </a:rPr>
              <a:t> takes the DAO as an interface.</a:t>
            </a:r>
            <a:endParaRPr lang="en-US" sz="1350" dirty="0"/>
          </a:p>
        </p:txBody>
      </p:sp>
      <p:sp>
        <p:nvSpPr>
          <p:cNvPr id="12" name="Shape 9"/>
          <p:cNvSpPr/>
          <p:nvPr/>
        </p:nvSpPr>
        <p:spPr>
          <a:xfrm>
            <a:off x="812800" y="6140450"/>
            <a:ext cx="10566400" cy="6350"/>
          </a:xfrm>
          <a:prstGeom prst="rect">
            <a:avLst/>
          </a:prstGeom>
          <a:solidFill>
            <a:srgbClr val="D9DFDC"/>
          </a:solidFill>
          <a:ln/>
        </p:spPr>
      </p:sp>
      <p:sp>
        <p:nvSpPr>
          <p:cNvPr id="13" name="Text 10"/>
          <p:cNvSpPr/>
          <p:nvPr/>
        </p:nvSpPr>
        <p:spPr>
          <a:xfrm>
            <a:off x="812800" y="6247160"/>
            <a:ext cx="10883392" cy="229840"/>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6A7179"/>
                </a:solidFill>
                <a:latin typeface="JetBrains Mono" pitchFamily="34" charset="0"/>
                <a:ea typeface="JetBrains Mono" pitchFamily="34" charset="-122"/>
                <a:cs typeface="JetBrains Mono" pitchFamily="34" charset="-120"/>
              </a:rPr>
              <a:t>JUnit 5  ·  BankServiceImplTest</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4"/>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10883392" cy="521940"/>
          </a:xfrm>
          <a:prstGeom prst="rect">
            <a:avLst/>
          </a:prstGeom>
          <a:noFill/>
          <a:ln/>
        </p:spPr>
        <p:txBody>
          <a:bodyPr wrap="square" lIns="0" tIns="0" rIns="0" bIns="0" rtlCol="0" anchor="t">
            <a:normAutofit/>
          </a:bodyPr>
          <a:lstStyle/>
          <a:p>
            <a:pPr algn="l" indent="0" marL="0">
              <a:lnSpc>
                <a:spcPts val="3910"/>
              </a:lnSpc>
              <a:buNone/>
            </a:pPr>
            <a:r>
              <a:rPr lang="en-US" sz="3400" b="1" dirty="0">
                <a:solidFill>
                  <a:srgbClr val="0F1419"/>
                </a:solidFill>
                <a:latin typeface="JetBrains Mono" pitchFamily="34" charset="0"/>
                <a:ea typeface="JetBrains Mono" pitchFamily="34" charset="-122"/>
                <a:cs typeface="JetBrains Mono" pitchFamily="34" charset="-120"/>
              </a:rPr>
              <a:t>Technologies used</a:t>
            </a:r>
            <a:endParaRPr lang="en-US" sz="3400" dirty="0"/>
          </a:p>
        </p:txBody>
      </p:sp>
      <p:sp>
        <p:nvSpPr>
          <p:cNvPr id="4" name="Shape 1"/>
          <p:cNvSpPr/>
          <p:nvPr/>
        </p:nvSpPr>
        <p:spPr>
          <a:xfrm>
            <a:off x="812800" y="3086150"/>
            <a:ext cx="10566400" cy="0"/>
          </a:xfrm>
          <a:prstGeom prst="line">
            <a:avLst/>
          </a:prstGeom>
          <a:noFill/>
          <a:ln w="6350">
            <a:solidFill>
              <a:srgbClr val="D9DFDC"/>
            </a:solidFill>
            <a:prstDash val="solid"/>
          </a:ln>
        </p:spPr>
      </p:sp>
      <p:sp>
        <p:nvSpPr>
          <p:cNvPr id="5" name="Text 2"/>
          <p:cNvSpPr/>
          <p:nvPr/>
        </p:nvSpPr>
        <p:spPr>
          <a:xfrm>
            <a:off x="812800" y="2689920"/>
            <a:ext cx="2158365" cy="265410"/>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1F7A45"/>
                </a:solidFill>
                <a:latin typeface="JetBrains Mono" pitchFamily="34" charset="0"/>
                <a:ea typeface="JetBrains Mono" pitchFamily="34" charset="-122"/>
                <a:cs typeface="JetBrains Mono" pitchFamily="34" charset="-120"/>
              </a:rPr>
              <a:t>Java 17</a:t>
            </a:r>
            <a:endParaRPr lang="en-US" sz="1350" dirty="0"/>
          </a:p>
        </p:txBody>
      </p:sp>
      <p:sp>
        <p:nvSpPr>
          <p:cNvPr id="6" name="Text 3"/>
          <p:cNvSpPr/>
          <p:nvPr/>
        </p:nvSpPr>
        <p:spPr>
          <a:xfrm>
            <a:off x="3136900" y="2699445"/>
            <a:ext cx="8489569"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4A52"/>
                </a:solidFill>
                <a:latin typeface="Inter" pitchFamily="34" charset="0"/>
                <a:ea typeface="Inter" pitchFamily="34" charset="-122"/>
                <a:cs typeface="Inter" pitchFamily="34" charset="-120"/>
              </a:rPr>
              <a:t>The language, with switch expressions, lambdas, and try-with-resources.</a:t>
            </a:r>
            <a:endParaRPr lang="en-US" sz="1300" dirty="0"/>
          </a:p>
        </p:txBody>
      </p:sp>
      <p:sp>
        <p:nvSpPr>
          <p:cNvPr id="7" name="Shape 4"/>
          <p:cNvSpPr/>
          <p:nvPr/>
        </p:nvSpPr>
        <p:spPr>
          <a:xfrm>
            <a:off x="812800" y="3637955"/>
            <a:ext cx="10566400" cy="0"/>
          </a:xfrm>
          <a:prstGeom prst="line">
            <a:avLst/>
          </a:prstGeom>
          <a:noFill/>
          <a:ln w="6350">
            <a:solidFill>
              <a:srgbClr val="D9DFDC"/>
            </a:solidFill>
            <a:prstDash val="solid"/>
          </a:ln>
        </p:spPr>
      </p:sp>
      <p:sp>
        <p:nvSpPr>
          <p:cNvPr id="8" name="Text 5"/>
          <p:cNvSpPr/>
          <p:nvPr/>
        </p:nvSpPr>
        <p:spPr>
          <a:xfrm>
            <a:off x="812800" y="3241725"/>
            <a:ext cx="2158365" cy="265410"/>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1F7A45"/>
                </a:solidFill>
                <a:latin typeface="JetBrains Mono" pitchFamily="34" charset="0"/>
                <a:ea typeface="JetBrains Mono" pitchFamily="34" charset="-122"/>
                <a:cs typeface="JetBrains Mono" pitchFamily="34" charset="-120"/>
              </a:rPr>
              <a:t>Maven</a:t>
            </a:r>
            <a:endParaRPr lang="en-US" sz="1350" dirty="0"/>
          </a:p>
        </p:txBody>
      </p:sp>
      <p:sp>
        <p:nvSpPr>
          <p:cNvPr id="9" name="Text 6"/>
          <p:cNvSpPr/>
          <p:nvPr/>
        </p:nvSpPr>
        <p:spPr>
          <a:xfrm>
            <a:off x="3136900" y="3251250"/>
            <a:ext cx="8489569"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4A52"/>
                </a:solidFill>
                <a:latin typeface="Inter" pitchFamily="34" charset="0"/>
                <a:ea typeface="Inter" pitchFamily="34" charset="-122"/>
                <a:cs typeface="Inter" pitchFamily="34" charset="-120"/>
              </a:rPr>
              <a:t>Build tool and dependency management via the POM.</a:t>
            </a:r>
            <a:endParaRPr lang="en-US" sz="1300" dirty="0"/>
          </a:p>
        </p:txBody>
      </p:sp>
      <p:sp>
        <p:nvSpPr>
          <p:cNvPr id="10" name="Shape 7"/>
          <p:cNvSpPr/>
          <p:nvPr/>
        </p:nvSpPr>
        <p:spPr>
          <a:xfrm>
            <a:off x="812800" y="4189760"/>
            <a:ext cx="10566400" cy="0"/>
          </a:xfrm>
          <a:prstGeom prst="line">
            <a:avLst/>
          </a:prstGeom>
          <a:noFill/>
          <a:ln w="6350">
            <a:solidFill>
              <a:srgbClr val="D9DFDC"/>
            </a:solidFill>
            <a:prstDash val="solid"/>
          </a:ln>
        </p:spPr>
      </p:sp>
      <p:sp>
        <p:nvSpPr>
          <p:cNvPr id="11" name="Text 8"/>
          <p:cNvSpPr/>
          <p:nvPr/>
        </p:nvSpPr>
        <p:spPr>
          <a:xfrm>
            <a:off x="812800" y="3793530"/>
            <a:ext cx="2158365" cy="265410"/>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1F7A45"/>
                </a:solidFill>
                <a:latin typeface="JetBrains Mono" pitchFamily="34" charset="0"/>
                <a:ea typeface="JetBrains Mono" pitchFamily="34" charset="-122"/>
                <a:cs typeface="JetBrains Mono" pitchFamily="34" charset="-120"/>
              </a:rPr>
              <a:t>PostgreSQL</a:t>
            </a:r>
            <a:endParaRPr lang="en-US" sz="1350" dirty="0"/>
          </a:p>
        </p:txBody>
      </p:sp>
      <p:sp>
        <p:nvSpPr>
          <p:cNvPr id="12" name="Text 9"/>
          <p:cNvSpPr/>
          <p:nvPr/>
        </p:nvSpPr>
        <p:spPr>
          <a:xfrm>
            <a:off x="3136900" y="3803055"/>
            <a:ext cx="8489569"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4A52"/>
                </a:solidFill>
                <a:latin typeface="Inter" pitchFamily="34" charset="0"/>
                <a:ea typeface="Inter" pitchFamily="34" charset="-122"/>
                <a:cs typeface="Inter" pitchFamily="34" charset="-120"/>
              </a:rPr>
              <a:t>The relational database holding accounts and the transaction ledger.</a:t>
            </a:r>
            <a:endParaRPr lang="en-US" sz="1300" dirty="0"/>
          </a:p>
        </p:txBody>
      </p:sp>
      <p:sp>
        <p:nvSpPr>
          <p:cNvPr id="13" name="Shape 10"/>
          <p:cNvSpPr/>
          <p:nvPr/>
        </p:nvSpPr>
        <p:spPr>
          <a:xfrm>
            <a:off x="812800" y="4741565"/>
            <a:ext cx="10566400" cy="0"/>
          </a:xfrm>
          <a:prstGeom prst="line">
            <a:avLst/>
          </a:prstGeom>
          <a:noFill/>
          <a:ln w="6350">
            <a:solidFill>
              <a:srgbClr val="D9DFDC"/>
            </a:solidFill>
            <a:prstDash val="solid"/>
          </a:ln>
        </p:spPr>
      </p:sp>
      <p:sp>
        <p:nvSpPr>
          <p:cNvPr id="14" name="Text 11"/>
          <p:cNvSpPr/>
          <p:nvPr/>
        </p:nvSpPr>
        <p:spPr>
          <a:xfrm>
            <a:off x="812800" y="4345335"/>
            <a:ext cx="2158365" cy="265410"/>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1F7A45"/>
                </a:solidFill>
                <a:latin typeface="JetBrains Mono" pitchFamily="34" charset="0"/>
                <a:ea typeface="JetBrains Mono" pitchFamily="34" charset="-122"/>
                <a:cs typeface="JetBrains Mono" pitchFamily="34" charset="-120"/>
              </a:rPr>
              <a:t>JDBC</a:t>
            </a:r>
            <a:endParaRPr lang="en-US" sz="1350" dirty="0"/>
          </a:p>
        </p:txBody>
      </p:sp>
      <p:sp>
        <p:nvSpPr>
          <p:cNvPr id="15" name="Text 12"/>
          <p:cNvSpPr/>
          <p:nvPr/>
        </p:nvSpPr>
        <p:spPr>
          <a:xfrm>
            <a:off x="3136900" y="4354860"/>
            <a:ext cx="8489569"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4A52"/>
                </a:solidFill>
                <a:latin typeface="Inter" pitchFamily="34" charset="0"/>
                <a:ea typeface="Inter" pitchFamily="34" charset="-122"/>
                <a:cs typeface="Inter" pitchFamily="34" charset="-120"/>
              </a:rPr>
              <a:t>The Java API connecting the application to that database.</a:t>
            </a:r>
            <a:endParaRPr lang="en-US" sz="1300" dirty="0"/>
          </a:p>
        </p:txBody>
      </p:sp>
      <p:sp>
        <p:nvSpPr>
          <p:cNvPr id="16" name="Shape 13"/>
          <p:cNvSpPr/>
          <p:nvPr/>
        </p:nvSpPr>
        <p:spPr>
          <a:xfrm>
            <a:off x="812800" y="5293370"/>
            <a:ext cx="10566400" cy="0"/>
          </a:xfrm>
          <a:prstGeom prst="line">
            <a:avLst/>
          </a:prstGeom>
          <a:noFill/>
          <a:ln w="6350">
            <a:solidFill>
              <a:srgbClr val="D9DFDC"/>
            </a:solidFill>
            <a:prstDash val="solid"/>
          </a:ln>
        </p:spPr>
      </p:sp>
      <p:sp>
        <p:nvSpPr>
          <p:cNvPr id="17" name="Text 14"/>
          <p:cNvSpPr/>
          <p:nvPr/>
        </p:nvSpPr>
        <p:spPr>
          <a:xfrm>
            <a:off x="812800" y="4897140"/>
            <a:ext cx="2158365" cy="265410"/>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1F7A45"/>
                </a:solidFill>
                <a:latin typeface="JetBrains Mono" pitchFamily="34" charset="0"/>
                <a:ea typeface="JetBrains Mono" pitchFamily="34" charset="-122"/>
                <a:cs typeface="JetBrains Mono" pitchFamily="34" charset="-120"/>
              </a:rPr>
              <a:t>SLF4J + Logback</a:t>
            </a:r>
            <a:endParaRPr lang="en-US" sz="1350" dirty="0"/>
          </a:p>
        </p:txBody>
      </p:sp>
      <p:sp>
        <p:nvSpPr>
          <p:cNvPr id="18" name="Text 15"/>
          <p:cNvSpPr/>
          <p:nvPr/>
        </p:nvSpPr>
        <p:spPr>
          <a:xfrm>
            <a:off x="3136900" y="4906665"/>
            <a:ext cx="8489569"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4A52"/>
                </a:solidFill>
                <a:latin typeface="Inter" pitchFamily="34" charset="0"/>
                <a:ea typeface="Inter" pitchFamily="34" charset="-122"/>
                <a:cs typeface="Inter" pitchFamily="34" charset="-120"/>
              </a:rPr>
              <a:t>The logging interface I code against, and the implementation that writes a rolling daily file.</a:t>
            </a:r>
            <a:endParaRPr lang="en-US" sz="1300" dirty="0"/>
          </a:p>
        </p:txBody>
      </p:sp>
      <p:sp>
        <p:nvSpPr>
          <p:cNvPr id="19" name="Text 16"/>
          <p:cNvSpPr/>
          <p:nvPr/>
        </p:nvSpPr>
        <p:spPr>
          <a:xfrm>
            <a:off x="812800" y="5448945"/>
            <a:ext cx="2158365" cy="265410"/>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1F7A45"/>
                </a:solidFill>
                <a:latin typeface="JetBrains Mono" pitchFamily="34" charset="0"/>
                <a:ea typeface="JetBrains Mono" pitchFamily="34" charset="-122"/>
                <a:cs typeface="JetBrains Mono" pitchFamily="34" charset="-120"/>
              </a:rPr>
              <a:t>JUnit 5</a:t>
            </a:r>
            <a:endParaRPr lang="en-US" sz="1350" dirty="0"/>
          </a:p>
        </p:txBody>
      </p:sp>
      <p:sp>
        <p:nvSpPr>
          <p:cNvPr id="20" name="Text 17"/>
          <p:cNvSpPr/>
          <p:nvPr/>
        </p:nvSpPr>
        <p:spPr>
          <a:xfrm>
            <a:off x="3136900" y="5458470"/>
            <a:ext cx="8489569"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4A52"/>
                </a:solidFill>
                <a:latin typeface="Inter" pitchFamily="34" charset="0"/>
                <a:ea typeface="Inter" pitchFamily="34" charset="-122"/>
                <a:cs typeface="Inter" pitchFamily="34" charset="-120"/>
              </a:rPr>
              <a:t>Unit testing for the service layer.</a:t>
            </a:r>
            <a:endParaRPr lang="en-US" sz="1300" dirty="0"/>
          </a:p>
        </p:txBody>
      </p:sp>
      <p:sp>
        <p:nvSpPr>
          <p:cNvPr id="21" name="Text 18"/>
          <p:cNvSpPr/>
          <p:nvPr/>
        </p:nvSpPr>
        <p:spPr>
          <a:xfrm>
            <a:off x="812800" y="6247160"/>
            <a:ext cx="10883392" cy="229840"/>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6A7179"/>
                </a:solidFill>
                <a:latin typeface="JetBrains Mono" pitchFamily="34" charset="0"/>
                <a:ea typeface="JetBrains Mono" pitchFamily="34" charset="-122"/>
                <a:cs typeface="JetBrains Mono" pitchFamily="34" charset="-120"/>
              </a:rPr>
              <a:t>Version controlled with Git and GitHub</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419"/>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10883392" cy="521940"/>
          </a:xfrm>
          <a:prstGeom prst="rect">
            <a:avLst/>
          </a:prstGeom>
          <a:noFill/>
          <a:ln/>
        </p:spPr>
        <p:txBody>
          <a:bodyPr wrap="square" lIns="0" tIns="0" rIns="0" bIns="0" rtlCol="0" anchor="t">
            <a:normAutofit/>
          </a:bodyPr>
          <a:lstStyle/>
          <a:p>
            <a:pPr algn="l" indent="0" marL="0">
              <a:lnSpc>
                <a:spcPts val="3910"/>
              </a:lnSpc>
              <a:buNone/>
            </a:pPr>
            <a:r>
              <a:rPr lang="en-US" sz="3400" b="1" dirty="0">
                <a:solidFill>
                  <a:srgbClr val="F4F6F4"/>
                </a:solidFill>
                <a:latin typeface="JetBrains Mono" pitchFamily="34" charset="0"/>
                <a:ea typeface="JetBrains Mono" pitchFamily="34" charset="-122"/>
                <a:cs typeface="JetBrains Mono" pitchFamily="34" charset="-120"/>
              </a:rPr>
              <a:t>What I'd do next</a:t>
            </a:r>
            <a:endParaRPr lang="en-US" sz="3400" dirty="0"/>
          </a:p>
        </p:txBody>
      </p:sp>
      <p:sp>
        <p:nvSpPr>
          <p:cNvPr id="4" name="Shape 1"/>
          <p:cNvSpPr/>
          <p:nvPr/>
        </p:nvSpPr>
        <p:spPr>
          <a:xfrm>
            <a:off x="812800" y="3115965"/>
            <a:ext cx="10566400" cy="0"/>
          </a:xfrm>
          <a:prstGeom prst="line">
            <a:avLst/>
          </a:prstGeom>
          <a:noFill/>
          <a:ln w="6350">
            <a:solidFill>
              <a:srgbClr val="2A333D"/>
            </a:solidFill>
            <a:prstDash val="solid"/>
          </a:ln>
        </p:spPr>
      </p:sp>
      <p:sp>
        <p:nvSpPr>
          <p:cNvPr id="5" name="Text 2"/>
          <p:cNvSpPr/>
          <p:nvPr/>
        </p:nvSpPr>
        <p:spPr>
          <a:xfrm>
            <a:off x="812800" y="2654995"/>
            <a:ext cx="235458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DE80"/>
                </a:solidFill>
                <a:latin typeface="JetBrains Mono" pitchFamily="34" charset="0"/>
                <a:ea typeface="JetBrains Mono" pitchFamily="34" charset="-122"/>
                <a:cs typeface="JetBrains Mono" pitchFamily="34" charset="-120"/>
              </a:rPr>
              <a:t>BigDecimal</a:t>
            </a:r>
            <a:endParaRPr lang="en-US" sz="1400" dirty="0"/>
          </a:p>
        </p:txBody>
      </p:sp>
      <p:sp>
        <p:nvSpPr>
          <p:cNvPr id="6" name="Text 3"/>
          <p:cNvSpPr/>
          <p:nvPr/>
        </p:nvSpPr>
        <p:spPr>
          <a:xfrm>
            <a:off x="3352800" y="2651820"/>
            <a:ext cx="8267192" cy="28317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C3CCD3"/>
                </a:solidFill>
                <a:latin typeface="Inter" pitchFamily="34" charset="0"/>
                <a:ea typeface="Inter" pitchFamily="34" charset="-122"/>
                <a:cs typeface="Inter" pitchFamily="34" charset="-120"/>
              </a:rPr>
              <a:t>Balances are NUMERIC in Postgres but double in Java. Floating point has no place in money.</a:t>
            </a:r>
            <a:endParaRPr lang="en-US" sz="1400" dirty="0"/>
          </a:p>
        </p:txBody>
      </p:sp>
      <p:sp>
        <p:nvSpPr>
          <p:cNvPr id="7" name="Shape 4"/>
          <p:cNvSpPr/>
          <p:nvPr/>
        </p:nvSpPr>
        <p:spPr>
          <a:xfrm>
            <a:off x="812800" y="3786485"/>
            <a:ext cx="10566400" cy="0"/>
          </a:xfrm>
          <a:prstGeom prst="line">
            <a:avLst/>
          </a:prstGeom>
          <a:noFill/>
          <a:ln w="6350">
            <a:solidFill>
              <a:srgbClr val="2A333D"/>
            </a:solidFill>
            <a:prstDash val="solid"/>
          </a:ln>
        </p:spPr>
      </p:sp>
      <p:sp>
        <p:nvSpPr>
          <p:cNvPr id="8" name="Text 5"/>
          <p:cNvSpPr/>
          <p:nvPr/>
        </p:nvSpPr>
        <p:spPr>
          <a:xfrm>
            <a:off x="812800" y="3325515"/>
            <a:ext cx="235458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DE80"/>
                </a:solidFill>
                <a:latin typeface="JetBrains Mono" pitchFamily="34" charset="0"/>
                <a:ea typeface="JetBrains Mono" pitchFamily="34" charset="-122"/>
                <a:cs typeface="JetBrains Mono" pitchFamily="34" charset="-120"/>
              </a:rPr>
              <a:t>Hashed PINs</a:t>
            </a:r>
            <a:endParaRPr lang="en-US" sz="1400" dirty="0"/>
          </a:p>
        </p:txBody>
      </p:sp>
      <p:sp>
        <p:nvSpPr>
          <p:cNvPr id="9" name="Text 6"/>
          <p:cNvSpPr/>
          <p:nvPr/>
        </p:nvSpPr>
        <p:spPr>
          <a:xfrm>
            <a:off x="3352800" y="3322340"/>
            <a:ext cx="8267192" cy="28317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C3CCD3"/>
                </a:solidFill>
                <a:latin typeface="Inter" pitchFamily="34" charset="0"/>
                <a:ea typeface="Inter" pitchFamily="34" charset="-122"/>
                <a:cs typeface="Inter" pitchFamily="34" charset="-120"/>
              </a:rPr>
              <a:t>PINs are stored in plaintext today. BCrypt with a per-account salt is the fix.</a:t>
            </a:r>
            <a:endParaRPr lang="en-US" sz="1400" dirty="0"/>
          </a:p>
        </p:txBody>
      </p:sp>
      <p:sp>
        <p:nvSpPr>
          <p:cNvPr id="10" name="Text 7"/>
          <p:cNvSpPr/>
          <p:nvPr/>
        </p:nvSpPr>
        <p:spPr>
          <a:xfrm>
            <a:off x="812800" y="3996035"/>
            <a:ext cx="235458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DE80"/>
                </a:solidFill>
                <a:latin typeface="JetBrains Mono" pitchFamily="34" charset="0"/>
                <a:ea typeface="JetBrains Mono" pitchFamily="34" charset="-122"/>
                <a:cs typeface="JetBrains Mono" pitchFamily="34" charset="-120"/>
              </a:rPr>
              <a:t>Stubbed tests</a:t>
            </a:r>
            <a:endParaRPr lang="en-US" sz="1400" dirty="0"/>
          </a:p>
        </p:txBody>
      </p:sp>
      <p:sp>
        <p:nvSpPr>
          <p:cNvPr id="11" name="Text 8"/>
          <p:cNvSpPr/>
          <p:nvPr/>
        </p:nvSpPr>
        <p:spPr>
          <a:xfrm>
            <a:off x="3352800" y="3992860"/>
            <a:ext cx="8267192" cy="28317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C3CCD3"/>
                </a:solidFill>
                <a:latin typeface="Inter" pitchFamily="34" charset="0"/>
                <a:ea typeface="Inter" pitchFamily="34" charset="-122"/>
                <a:cs typeface="Inter" pitchFamily="34" charset="-120"/>
              </a:rPr>
              <a:t>Swap the real DAO for a stub so service tests run without a live database.</a:t>
            </a:r>
            <a:endParaRPr lang="en-US" sz="1400" dirty="0"/>
          </a:p>
        </p:txBody>
      </p:sp>
      <p:sp>
        <p:nvSpPr>
          <p:cNvPr id="12" name="Text 9"/>
          <p:cNvSpPr/>
          <p:nvPr/>
        </p:nvSpPr>
        <p:spPr>
          <a:xfrm>
            <a:off x="812800" y="559311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DE80"/>
                </a:solidFill>
                <a:latin typeface="JetBrains Mono" pitchFamily="34" charset="0"/>
                <a:ea typeface="JetBrains Mono" pitchFamily="34" charset="-122"/>
                <a:cs typeface="JetBrains Mono" pitchFamily="34" charset="-120"/>
              </a:rPr>
              <a:t>github.com/aduart03/BANK-OF-CLI</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419"/>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4762500" y="2590800"/>
            <a:ext cx="2747010" cy="914400"/>
          </a:xfrm>
          <a:prstGeom prst="rect">
            <a:avLst/>
          </a:prstGeom>
          <a:noFill/>
          <a:ln/>
        </p:spPr>
        <p:txBody>
          <a:bodyPr wrap="square" lIns="0" tIns="0" rIns="0" bIns="0" rtlCol="0" anchor="t">
            <a:normAutofit/>
          </a:bodyPr>
          <a:lstStyle/>
          <a:p>
            <a:pPr algn="l" indent="0" marL="0">
              <a:lnSpc>
                <a:spcPts val="7000"/>
              </a:lnSpc>
              <a:buNone/>
            </a:pPr>
            <a:r>
              <a:rPr lang="en-US" sz="7000" b="1" dirty="0">
                <a:solidFill>
                  <a:srgbClr val="F4F6F4"/>
                </a:solidFill>
                <a:latin typeface="JetBrains Mono" pitchFamily="34" charset="0"/>
                <a:ea typeface="JetBrains Mono" pitchFamily="34" charset="-122"/>
                <a:cs typeface="JetBrains Mono" pitchFamily="34" charset="-120"/>
              </a:rPr>
              <a:t>Q &amp; A</a:t>
            </a:r>
            <a:endParaRPr lang="en-US" sz="7000" dirty="0"/>
          </a:p>
        </p:txBody>
      </p:sp>
      <p:sp>
        <p:nvSpPr>
          <p:cNvPr id="4" name="Shape 1"/>
          <p:cNvSpPr/>
          <p:nvPr/>
        </p:nvSpPr>
        <p:spPr>
          <a:xfrm>
            <a:off x="4445000" y="3733800"/>
            <a:ext cx="3302000" cy="12700"/>
          </a:xfrm>
          <a:prstGeom prst="rect">
            <a:avLst/>
          </a:prstGeom>
          <a:solidFill>
            <a:srgbClr val="4ADE80"/>
          </a:solidFill>
          <a:ln/>
        </p:spPr>
      </p:sp>
      <p:sp>
        <p:nvSpPr>
          <p:cNvPr id="5" name="Text 2"/>
          <p:cNvSpPr/>
          <p:nvPr/>
        </p:nvSpPr>
        <p:spPr>
          <a:xfrm>
            <a:off x="4324350" y="4000500"/>
            <a:ext cx="3649599"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9AA5AD"/>
                </a:solidFill>
                <a:latin typeface="JetBrains Mono" pitchFamily="34" charset="0"/>
                <a:ea typeface="JetBrains Mono" pitchFamily="34" charset="-122"/>
                <a:cs typeface="JetBrains Mono" pitchFamily="34" charset="-120"/>
              </a:rPr>
              <a:t>github.com/aduart03/BANK-OF-CLI</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Bank of CLI</dc:title>
  <dc:subject>PptxGenJS Presentation</dc:subject>
  <dc:creator>PptxGenJS</dc:creator>
  <cp:lastModifiedBy>PptxGenJS</cp:lastModifiedBy>
  <cp:revision>1</cp:revision>
  <dcterms:created xsi:type="dcterms:W3CDTF">2026-09-24T18:47:11Z</dcterms:created>
  <dcterms:modified xsi:type="dcterms:W3CDTF">2026-09-24T18:47:11Z</dcterms:modified>
</cp:coreProperties>
</file>